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Helvetica Neue"/>
      <p:regular r:id="rId19"/>
      <p:bold r:id="rId20"/>
      <p:italic r:id="rId21"/>
      <p:boldItalic r:id="rId22"/>
    </p:embeddedFont>
    <p:embeddedFont>
      <p:font typeface="Helvetica Neue Ligh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5tSwHeBZPI17dbyYQUTcSN1+X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6A5387-ECC5-4ECF-83AC-9DBB56EDD3CE}">
  <a:tblStyle styleId="{E36A5387-ECC5-4ECF-83AC-9DBB56EDD3C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22" Type="http://schemas.openxmlformats.org/officeDocument/2006/relationships/font" Target="fonts/HelveticaNeue-boldItalic.fntdata"/><Relationship Id="rId21" Type="http://schemas.openxmlformats.org/officeDocument/2006/relationships/font" Target="fonts/HelveticaNeue-italic.fntdata"/><Relationship Id="rId24" Type="http://schemas.openxmlformats.org/officeDocument/2006/relationships/font" Target="fonts/HelveticaNeueLight-bold.fntdata"/><Relationship Id="rId23" Type="http://schemas.openxmlformats.org/officeDocument/2006/relationships/font" Target="fonts/HelveticaNeueLigh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Light-boldItalic.fntdata"/><Relationship Id="rId25" Type="http://schemas.openxmlformats.org/officeDocument/2006/relationships/font" Target="fonts/HelveticaNeueLight-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HelveticaNeue-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5df597807_4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g385df597807_4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44f31a70d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44f31a70d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a44f31a70d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44f31a70d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44f31a70d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a44f31a70d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44f31a70d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44f31a70d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a44f31a70d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44f31a70d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44f31a70d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a44f31a70d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5df597807_4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85df597807_4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85df597807_4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5df597807_4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85df597807_4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85df597807_4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85df597807_4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85df597807_4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85df597807_4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5df597807_4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85df597807_4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g385df597807_4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45292565f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45292565f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a45292565f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801B19"/>
        </a:solid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844150" y="3874808"/>
            <a:ext cx="10515600" cy="835416"/>
          </a:xfrm>
          <a:prstGeom prst="rect">
            <a:avLst/>
          </a:prstGeom>
          <a:noFill/>
          <a:ln>
            <a:noFill/>
          </a:ln>
        </p:spPr>
        <p:txBody>
          <a:bodyPr anchorCtr="1" anchor="t" bIns="45700" lIns="91425" spcFirstLastPara="1" rIns="91425" wrap="square" tIns="45700">
            <a:noAutofit/>
          </a:bodyPr>
          <a:lstStyle>
            <a:lvl1pPr lvl="0" algn="l">
              <a:lnSpc>
                <a:spcPct val="90000"/>
              </a:lnSpc>
              <a:spcBef>
                <a:spcPts val="0"/>
              </a:spcBef>
              <a:spcAft>
                <a:spcPts val="0"/>
              </a:spcAft>
              <a:buClr>
                <a:schemeClr val="lt1"/>
              </a:buClr>
              <a:buSzPts val="3400"/>
              <a:buFont typeface="Helvetica Neue"/>
              <a:buNone/>
              <a:defRPr sz="3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 name="Google Shape;20;p5"/>
          <p:cNvPicPr preferRelativeResize="0"/>
          <p:nvPr/>
        </p:nvPicPr>
        <p:blipFill rotWithShape="1">
          <a:blip r:embed="rId2">
            <a:alphaModFix/>
          </a:blip>
          <a:srcRect b="0" l="0" r="0" t="0"/>
          <a:stretch/>
        </p:blipFill>
        <p:spPr>
          <a:xfrm>
            <a:off x="4042932" y="1479396"/>
            <a:ext cx="4106136" cy="13477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000"/>
              <a:buFont typeface="Helvetica Neue Light"/>
              <a:buNone/>
              <a:defRPr b="0" i="0" sz="2000">
                <a:solidFill>
                  <a:srgbClr val="888888"/>
                </a:solidFill>
                <a:latin typeface="Helvetica Neue Light"/>
                <a:ea typeface="Helvetica Neue Light"/>
                <a:cs typeface="Helvetica Neue Light"/>
                <a:sym typeface="Helvetica Neue Light"/>
              </a:defRPr>
            </a:lvl1pPr>
            <a:lvl2pPr indent="-228600" lvl="1" marL="914400" algn="l">
              <a:lnSpc>
                <a:spcPct val="90000"/>
              </a:lnSpc>
              <a:spcBef>
                <a:spcPts val="500"/>
              </a:spcBef>
              <a:spcAft>
                <a:spcPts val="0"/>
              </a:spcAft>
              <a:buClr>
                <a:srgbClr val="888888"/>
              </a:buClr>
              <a:buSzPts val="2000"/>
              <a:buFont typeface="Helvetica Neue Light"/>
              <a:buNone/>
              <a:defRPr sz="2000">
                <a:solidFill>
                  <a:srgbClr val="888888"/>
                </a:solidFill>
              </a:defRPr>
            </a:lvl2pPr>
            <a:lvl3pPr indent="-228600" lvl="2" marL="1371600" algn="l">
              <a:lnSpc>
                <a:spcPct val="90000"/>
              </a:lnSpc>
              <a:spcBef>
                <a:spcPts val="500"/>
              </a:spcBef>
              <a:spcAft>
                <a:spcPts val="0"/>
              </a:spcAft>
              <a:buClr>
                <a:srgbClr val="888888"/>
              </a:buClr>
              <a:buSzPts val="1800"/>
              <a:buFont typeface="Helvetica Neue Light"/>
              <a:buNone/>
              <a:defRPr sz="1800">
                <a:solidFill>
                  <a:srgbClr val="888888"/>
                </a:solidFill>
              </a:defRPr>
            </a:lvl3pPr>
            <a:lvl4pPr indent="-228600" lvl="3" marL="1828800" algn="l">
              <a:lnSpc>
                <a:spcPct val="90000"/>
              </a:lnSpc>
              <a:spcBef>
                <a:spcPts val="500"/>
              </a:spcBef>
              <a:spcAft>
                <a:spcPts val="0"/>
              </a:spcAft>
              <a:buClr>
                <a:srgbClr val="888888"/>
              </a:buClr>
              <a:buSzPts val="1600"/>
              <a:buFont typeface="Helvetica Neue Light"/>
              <a:buNone/>
              <a:defRPr sz="1600">
                <a:solidFill>
                  <a:srgbClr val="888888"/>
                </a:solidFill>
              </a:defRPr>
            </a:lvl4pPr>
            <a:lvl5pPr indent="-228600" lvl="4" marL="2286000" algn="l">
              <a:lnSpc>
                <a:spcPct val="90000"/>
              </a:lnSpc>
              <a:spcBef>
                <a:spcPts val="500"/>
              </a:spcBef>
              <a:spcAft>
                <a:spcPts val="0"/>
              </a:spcAft>
              <a:buClr>
                <a:srgbClr val="888888"/>
              </a:buClr>
              <a:buSzPts val="1600"/>
              <a:buFont typeface="Helvetica Neue Light"/>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6"/>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25" name="Google Shape;25;p6"/>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 name="Google Shape;26;p6"/>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7"/>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Helvetica Neue Light"/>
              <a:buChar char="•"/>
              <a:defRPr sz="2400"/>
            </a:lvl1pPr>
            <a:lvl2pPr indent="-355600" lvl="1" marL="914400" algn="l">
              <a:lnSpc>
                <a:spcPct val="90000"/>
              </a:lnSpc>
              <a:spcBef>
                <a:spcPts val="500"/>
              </a:spcBef>
              <a:spcAft>
                <a:spcPts val="0"/>
              </a:spcAft>
              <a:buClr>
                <a:schemeClr val="dk1"/>
              </a:buClr>
              <a:buSzPts val="2000"/>
              <a:buFont typeface="Helvetica Neue Light"/>
              <a:buChar char="•"/>
              <a:defRPr sz="2000"/>
            </a:lvl2pPr>
            <a:lvl3pPr indent="-342900" lvl="2" marL="1371600" algn="l">
              <a:lnSpc>
                <a:spcPct val="90000"/>
              </a:lnSpc>
              <a:spcBef>
                <a:spcPts val="500"/>
              </a:spcBef>
              <a:spcAft>
                <a:spcPts val="0"/>
              </a:spcAft>
              <a:buClr>
                <a:schemeClr val="dk1"/>
              </a:buClr>
              <a:buSzPts val="1800"/>
              <a:buFont typeface="Helvetica Neue Light"/>
              <a:buChar char="•"/>
              <a:defRPr sz="1800"/>
            </a:lvl3pPr>
            <a:lvl4pPr indent="-330200" lvl="3" marL="1828800" algn="l">
              <a:lnSpc>
                <a:spcPct val="90000"/>
              </a:lnSpc>
              <a:spcBef>
                <a:spcPts val="500"/>
              </a:spcBef>
              <a:spcAft>
                <a:spcPts val="0"/>
              </a:spcAft>
              <a:buClr>
                <a:schemeClr val="dk1"/>
              </a:buClr>
              <a:buSzPts val="1600"/>
              <a:buFont typeface="Helvetica Neue Light"/>
              <a:buChar char="•"/>
              <a:defRPr sz="1600"/>
            </a:lvl4pPr>
            <a:lvl5pPr indent="-330200" lvl="4" marL="2286000" algn="l">
              <a:lnSpc>
                <a:spcPct val="90000"/>
              </a:lnSpc>
              <a:spcBef>
                <a:spcPts val="500"/>
              </a:spcBef>
              <a:spcAft>
                <a:spcPts val="0"/>
              </a:spcAft>
              <a:buClr>
                <a:schemeClr val="dk1"/>
              </a:buClr>
              <a:buSzPts val="1600"/>
              <a:buFont typeface="Helvetica Neue Light"/>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7"/>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1" name="Google Shape;31;p7"/>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2" name="Google Shape;32;p7"/>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extLst>
    <p:ext uri="{DCECCB84-F9BA-43D5-87BE-67443E8EF086}">
      <p15:sldGuideLst>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52">
          <p15:clr>
            <a:srgbClr val="FBAE40"/>
          </p15:clr>
        </p15:guide>
        <p15:guide id="13" orient="horz" pos="4201">
          <p15:clr>
            <a:srgbClr val="FBAE40"/>
          </p15:clr>
        </p15:guide>
        <p15:guide id="1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8"/>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8" name="Google Shape;38;p8"/>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9" name="Google Shape;39;p8"/>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9"/>
          <p:cNvSpPr txBox="1"/>
          <p:nvPr>
            <p:ph type="title"/>
          </p:nvPr>
        </p:nvSpPr>
        <p:spPr>
          <a:xfrm>
            <a:off x="839788"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47" name="Google Shape;47;p9"/>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8" name="Google Shape;48;p9"/>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0"/>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2" name="Google Shape;52;p10"/>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3" name="Google Shape;53;p10"/>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6" name="Google Shape;56;p1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7" name="Google Shape;57;p11"/>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Helvetica Neue Light"/>
              <a:buChar char="•"/>
              <a:defRPr sz="3200"/>
            </a:lvl1pPr>
            <a:lvl2pPr indent="-406400" lvl="1" marL="914400" algn="l">
              <a:lnSpc>
                <a:spcPct val="90000"/>
              </a:lnSpc>
              <a:spcBef>
                <a:spcPts val="500"/>
              </a:spcBef>
              <a:spcAft>
                <a:spcPts val="0"/>
              </a:spcAft>
              <a:buClr>
                <a:schemeClr val="dk1"/>
              </a:buClr>
              <a:buSzPts val="2800"/>
              <a:buFont typeface="Helvetica Neue Light"/>
              <a:buChar char="•"/>
              <a:defRPr sz="2800"/>
            </a:lvl2pPr>
            <a:lvl3pPr indent="-381000" lvl="2" marL="1371600" algn="l">
              <a:lnSpc>
                <a:spcPct val="90000"/>
              </a:lnSpc>
              <a:spcBef>
                <a:spcPts val="500"/>
              </a:spcBef>
              <a:spcAft>
                <a:spcPts val="0"/>
              </a:spcAft>
              <a:buClr>
                <a:schemeClr val="dk1"/>
              </a:buClr>
              <a:buSzPts val="2400"/>
              <a:buFont typeface="Helvetica Neue Light"/>
              <a:buChar char="•"/>
              <a:defRPr sz="2400"/>
            </a:lvl3pPr>
            <a:lvl4pPr indent="-355600" lvl="3" marL="1828800" algn="l">
              <a:lnSpc>
                <a:spcPct val="90000"/>
              </a:lnSpc>
              <a:spcBef>
                <a:spcPts val="500"/>
              </a:spcBef>
              <a:spcAft>
                <a:spcPts val="0"/>
              </a:spcAft>
              <a:buClr>
                <a:schemeClr val="dk1"/>
              </a:buClr>
              <a:buSzPts val="2000"/>
              <a:buFont typeface="Helvetica Neue Light"/>
              <a:buChar char="•"/>
              <a:defRPr sz="2000"/>
            </a:lvl4pPr>
            <a:lvl5pPr indent="-355600" lvl="4" marL="2286000" algn="l">
              <a:lnSpc>
                <a:spcPct val="90000"/>
              </a:lnSpc>
              <a:spcBef>
                <a:spcPts val="500"/>
              </a:spcBef>
              <a:spcAft>
                <a:spcPts val="0"/>
              </a:spcAft>
              <a:buClr>
                <a:schemeClr val="dk1"/>
              </a:buClr>
              <a:buSzPts val="2000"/>
              <a:buFont typeface="Helvetica Neue Light"/>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63" name="Google Shape;63;p1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4" name="Google Shape;64;p12"/>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p:nvPr>
            <p:ph idx="2" type="pic"/>
          </p:nvPr>
        </p:nvSpPr>
        <p:spPr>
          <a:xfrm>
            <a:off x="5183188" y="987425"/>
            <a:ext cx="6172200" cy="4873625"/>
          </a:xfrm>
          <a:prstGeom prst="rect">
            <a:avLst/>
          </a:prstGeom>
          <a:noFill/>
          <a:ln>
            <a:noFill/>
          </a:ln>
        </p:spPr>
      </p:sp>
      <p:sp>
        <p:nvSpPr>
          <p:cNvPr id="68" name="Google Shape;68;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0" name="Google Shape;70;p1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1" name="Google Shape;71;p13"/>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4"/>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6" name="Google Shape;76;p1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7" name="Google Shape;77;p14"/>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5"/>
          <p:cNvSpPr txBox="1"/>
          <p:nvPr>
            <p:ph type="title"/>
          </p:nvPr>
        </p:nvSpPr>
        <p:spPr>
          <a:xfrm rot="5400000">
            <a:off x="7133431" y="1956594"/>
            <a:ext cx="581183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5"/>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82" name="Google Shape;82;p15"/>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83" name="Google Shape;83;p15"/>
          <p:cNvPicPr preferRelativeResize="0"/>
          <p:nvPr/>
        </p:nvPicPr>
        <p:blipFill rotWithShape="1">
          <a:blip r:embed="rId2">
            <a:alphaModFix/>
          </a:blip>
          <a:srcRect b="38397" l="29654" r="29479" t="38312"/>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Helvetica Neue"/>
              <a:buNone/>
              <a:defRPr b="1" i="0" sz="40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Helvetica Neue Light"/>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lnSpc>
                <a:spcPct val="90000"/>
              </a:lnSpc>
              <a:spcBef>
                <a:spcPts val="500"/>
              </a:spcBef>
              <a:spcAft>
                <a:spcPts val="0"/>
              </a:spcAft>
              <a:buClr>
                <a:schemeClr val="dk1"/>
              </a:buClr>
              <a:buSzPts val="2400"/>
              <a:buFont typeface="Helvetica Neue Light"/>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lnSpc>
                <a:spcPct val="90000"/>
              </a:lnSpc>
              <a:spcBef>
                <a:spcPts val="500"/>
              </a:spcBef>
              <a:spcAft>
                <a:spcPts val="0"/>
              </a:spcAft>
              <a:buClr>
                <a:schemeClr val="dk1"/>
              </a:buClr>
              <a:buSzPts val="2000"/>
              <a:buFont typeface="Helvetica Neue Light"/>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 name="Google Shape;12;p4"/>
          <p:cNvGrpSpPr/>
          <p:nvPr/>
        </p:nvGrpSpPr>
        <p:grpSpPr>
          <a:xfrm>
            <a:off x="0" y="6756400"/>
            <a:ext cx="12192000" cy="105496"/>
            <a:chOff x="0" y="6756400"/>
            <a:chExt cx="12192000" cy="105496"/>
          </a:xfrm>
        </p:grpSpPr>
        <p:pic>
          <p:nvPicPr>
            <p:cNvPr id="13" name="Google Shape;13;p4"/>
            <p:cNvPicPr preferRelativeResize="0"/>
            <p:nvPr/>
          </p:nvPicPr>
          <p:blipFill rotWithShape="1">
            <a:blip r:embed="rId1">
              <a:alphaModFix/>
            </a:blip>
            <a:srcRect b="0" l="0" r="0" t="0"/>
            <a:stretch/>
          </p:blipFill>
          <p:spPr>
            <a:xfrm>
              <a:off x="1524000" y="6756400"/>
              <a:ext cx="9144000" cy="101600"/>
            </a:xfrm>
            <a:prstGeom prst="rect">
              <a:avLst/>
            </a:prstGeom>
            <a:noFill/>
            <a:ln>
              <a:noFill/>
            </a:ln>
          </p:spPr>
        </p:pic>
        <p:pic>
          <p:nvPicPr>
            <p:cNvPr id="14" name="Google Shape;14;p4"/>
            <p:cNvPicPr preferRelativeResize="0"/>
            <p:nvPr/>
          </p:nvPicPr>
          <p:blipFill rotWithShape="1">
            <a:blip r:embed="rId1">
              <a:alphaModFix/>
            </a:blip>
            <a:srcRect b="15585" l="0" r="71580" t="0"/>
            <a:stretch/>
          </p:blipFill>
          <p:spPr>
            <a:xfrm>
              <a:off x="0" y="6756400"/>
              <a:ext cx="2598717" cy="101600"/>
            </a:xfrm>
            <a:prstGeom prst="rect">
              <a:avLst/>
            </a:prstGeom>
            <a:noFill/>
            <a:ln>
              <a:noFill/>
            </a:ln>
          </p:spPr>
        </p:pic>
        <p:pic>
          <p:nvPicPr>
            <p:cNvPr id="15" name="Google Shape;15;p4"/>
            <p:cNvPicPr preferRelativeResize="0"/>
            <p:nvPr/>
          </p:nvPicPr>
          <p:blipFill rotWithShape="1">
            <a:blip r:embed="rId1">
              <a:alphaModFix/>
            </a:blip>
            <a:srcRect b="15585" l="0" r="71580" t="0"/>
            <a:stretch/>
          </p:blipFill>
          <p:spPr>
            <a:xfrm>
              <a:off x="9593283" y="6756400"/>
              <a:ext cx="2598717" cy="105496"/>
            </a:xfrm>
            <a:prstGeom prst="rect">
              <a:avLst/>
            </a:prstGeom>
            <a:noFill/>
            <a:ln>
              <a:noFill/>
            </a:ln>
          </p:spPr>
        </p:pic>
      </p:grpSp>
      <p:sp>
        <p:nvSpPr>
          <p:cNvPr id="16" name="Google Shape;16;p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17" name="Google Shape;17;p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7F7F7F"/>
                </a:solidFill>
                <a:latin typeface="Helvetica Neue Light"/>
                <a:ea typeface="Helvetica Neue Light"/>
                <a:cs typeface="Helvetica Neue Light"/>
                <a:sym typeface="Helvetica Neue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22.png"/><Relationship Id="rId6" Type="http://schemas.openxmlformats.org/officeDocument/2006/relationships/image" Target="../media/image10.png"/><Relationship Id="rId7"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researchgate.net/publication/224377985_A_Computational_Approach_To_Edge_Detection" TargetMode="External"/><Relationship Id="rId4" Type="http://schemas.openxmlformats.org/officeDocument/2006/relationships/hyperlink" Target="https://www.sciencedirect.com/science/article/pii/0734189X8590016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2867100" y="3429000"/>
            <a:ext cx="6457800" cy="1249200"/>
          </a:xfrm>
          <a:prstGeom prst="rect">
            <a:avLst/>
          </a:prstGeom>
          <a:noFill/>
          <a:ln>
            <a:noFill/>
          </a:ln>
        </p:spPr>
        <p:txBody>
          <a:bodyPr anchorCtr="1"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US" sz="4300"/>
              <a:t>Document Scanner And </a:t>
            </a:r>
            <a:endParaRPr sz="4300"/>
          </a:p>
          <a:p>
            <a:pPr indent="0" lvl="0" marL="0" rtl="0" algn="l">
              <a:lnSpc>
                <a:spcPct val="90000"/>
              </a:lnSpc>
              <a:spcBef>
                <a:spcPts val="0"/>
              </a:spcBef>
              <a:spcAft>
                <a:spcPts val="0"/>
              </a:spcAft>
              <a:buClr>
                <a:schemeClr val="dk1"/>
              </a:buClr>
              <a:buSzPts val="1100"/>
              <a:buFont typeface="Arial"/>
              <a:buNone/>
            </a:pPr>
            <a:r>
              <a:rPr lang="en-US" sz="4300"/>
              <a:t>Perspective Correction</a:t>
            </a:r>
            <a:endParaRPr sz="4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831850" y="379750"/>
            <a:ext cx="10515600" cy="1746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5400"/>
              <a:buFont typeface="Helvetica Neue"/>
              <a:buNone/>
            </a:pPr>
            <a:r>
              <a:rPr lang="en-US"/>
              <a:t>Group 01 - Digital Image Processing</a:t>
            </a:r>
            <a:endParaRPr/>
          </a:p>
        </p:txBody>
      </p:sp>
      <p:sp>
        <p:nvSpPr>
          <p:cNvPr id="94" name="Google Shape;94;p2"/>
          <p:cNvSpPr txBox="1"/>
          <p:nvPr>
            <p:ph idx="1" type="body"/>
          </p:nvPr>
        </p:nvSpPr>
        <p:spPr>
          <a:xfrm>
            <a:off x="831850" y="23159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000"/>
              <a:buFont typeface="Helvetica Neue Light"/>
              <a:buNone/>
            </a:pPr>
            <a:r>
              <a:t/>
            </a:r>
            <a:endParaRPr/>
          </a:p>
          <a:p>
            <a:pPr indent="0" lvl="0" marL="0" rtl="0" algn="l">
              <a:lnSpc>
                <a:spcPct val="90000"/>
              </a:lnSpc>
              <a:spcBef>
                <a:spcPts val="1000"/>
              </a:spcBef>
              <a:spcAft>
                <a:spcPts val="0"/>
              </a:spcAft>
              <a:buClr>
                <a:srgbClr val="888888"/>
              </a:buClr>
              <a:buSzPts val="2000"/>
              <a:buFont typeface="Helvetica Neue Light"/>
              <a:buNone/>
            </a:pPr>
            <a:r>
              <a:t/>
            </a:r>
            <a:endParaRPr/>
          </a:p>
          <a:p>
            <a:pPr indent="0" lvl="0" marL="0" rtl="0" algn="l">
              <a:lnSpc>
                <a:spcPct val="90000"/>
              </a:lnSpc>
              <a:spcBef>
                <a:spcPts val="1000"/>
              </a:spcBef>
              <a:spcAft>
                <a:spcPts val="0"/>
              </a:spcAft>
              <a:buClr>
                <a:srgbClr val="888888"/>
              </a:buClr>
              <a:buSzPts val="2000"/>
              <a:buFont typeface="Helvetica Neue Light"/>
              <a:buNone/>
            </a:pPr>
            <a:r>
              <a:t/>
            </a:r>
            <a:endParaRPr/>
          </a:p>
        </p:txBody>
      </p:sp>
      <p:sp>
        <p:nvSpPr>
          <p:cNvPr id="95" name="Google Shape;95;p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96" name="Google Shape;96;p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01/07/19</a:t>
            </a:r>
            <a:endParaRPr/>
          </a:p>
        </p:txBody>
      </p:sp>
      <p:graphicFrame>
        <p:nvGraphicFramePr>
          <p:cNvPr id="97" name="Google Shape;97;p2"/>
          <p:cNvGraphicFramePr/>
          <p:nvPr/>
        </p:nvGraphicFramePr>
        <p:xfrm>
          <a:off x="952500" y="2476500"/>
          <a:ext cx="3000000" cy="3000000"/>
        </p:xfrm>
        <a:graphic>
          <a:graphicData uri="http://schemas.openxmlformats.org/drawingml/2006/table">
            <a:tbl>
              <a:tblPr>
                <a:noFill/>
                <a:tableStyleId>{E36A5387-ECC5-4ECF-83AC-9DBB56EDD3CE}</a:tableStyleId>
              </a:tblPr>
              <a:tblGrid>
                <a:gridCol w="5143500"/>
                <a:gridCol w="514350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Name</a:t>
                      </a:r>
                      <a:endParaRPr b="1" sz="18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Enrolment No.</a:t>
                      </a:r>
                      <a:endParaRPr b="1" sz="18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Ayush Makwana</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AU2340138</a:t>
                      </a:r>
                      <a:endParaRPr sz="1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Dhruvik Shah</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AU2340113</a:t>
                      </a:r>
                      <a:endParaRPr sz="1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Divyam Thakkar</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AU2340227</a:t>
                      </a:r>
                      <a:endParaRPr sz="1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Jainik Patel</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AU2340042</a:t>
                      </a:r>
                      <a:endParaRPr sz="1600" u="none" cap="none" strike="noStrike"/>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Helvetica Neue"/>
              <a:buNone/>
            </a:pPr>
            <a:r>
              <a:rPr lang="en-US" sz="4500"/>
              <a:t>Introduction</a:t>
            </a:r>
            <a:endParaRPr sz="4500"/>
          </a:p>
        </p:txBody>
      </p:sp>
      <p:sp>
        <p:nvSpPr>
          <p:cNvPr id="103" name="Google Shape;103;p3"/>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a:bodyPr>
          <a:lstStyle/>
          <a:p>
            <a:pPr indent="-387350" lvl="0" marL="457200" rtl="0" algn="l">
              <a:lnSpc>
                <a:spcPct val="150000"/>
              </a:lnSpc>
              <a:spcBef>
                <a:spcPts val="1000"/>
              </a:spcBef>
              <a:spcAft>
                <a:spcPts val="0"/>
              </a:spcAft>
              <a:buSzPts val="2500"/>
              <a:buChar char="•"/>
            </a:pPr>
            <a:r>
              <a:rPr b="1" lang="en-US" sz="2500"/>
              <a:t>Document Scanning </a:t>
            </a:r>
            <a:endParaRPr b="1" sz="2500"/>
          </a:p>
          <a:p>
            <a:pPr indent="-387350" lvl="1" marL="914400" rtl="0" algn="l">
              <a:lnSpc>
                <a:spcPct val="150000"/>
              </a:lnSpc>
              <a:spcBef>
                <a:spcPts val="0"/>
              </a:spcBef>
              <a:spcAft>
                <a:spcPts val="0"/>
              </a:spcAft>
              <a:buSzPts val="2500"/>
              <a:buChar char="•"/>
            </a:pPr>
            <a:r>
              <a:rPr b="1" lang="en-US" sz="2500"/>
              <a:t>Problems</a:t>
            </a:r>
            <a:endParaRPr b="1" sz="2500"/>
          </a:p>
          <a:p>
            <a:pPr indent="-368300" lvl="2" marL="1371600" rtl="0" algn="l">
              <a:lnSpc>
                <a:spcPct val="150000"/>
              </a:lnSpc>
              <a:spcBef>
                <a:spcPts val="0"/>
              </a:spcBef>
              <a:spcAft>
                <a:spcPts val="0"/>
              </a:spcAft>
              <a:buSzPts val="2200"/>
              <a:buChar char="•"/>
            </a:pPr>
            <a:r>
              <a:rPr lang="en-US" sz="2200"/>
              <a:t>Perspective Distortion</a:t>
            </a:r>
            <a:endParaRPr sz="2200"/>
          </a:p>
          <a:p>
            <a:pPr indent="-368300" lvl="2" marL="1371600" rtl="0" algn="l">
              <a:lnSpc>
                <a:spcPct val="150000"/>
              </a:lnSpc>
              <a:spcBef>
                <a:spcPts val="0"/>
              </a:spcBef>
              <a:spcAft>
                <a:spcPts val="0"/>
              </a:spcAft>
              <a:buSzPts val="2200"/>
              <a:buChar char="•"/>
            </a:pPr>
            <a:r>
              <a:rPr lang="en-US" sz="2200"/>
              <a:t>Shadow</a:t>
            </a:r>
            <a:endParaRPr sz="2200"/>
          </a:p>
          <a:p>
            <a:pPr indent="-368300" lvl="2" marL="1371600" rtl="0" algn="l">
              <a:lnSpc>
                <a:spcPct val="150000"/>
              </a:lnSpc>
              <a:spcBef>
                <a:spcPts val="0"/>
              </a:spcBef>
              <a:spcAft>
                <a:spcPts val="0"/>
              </a:spcAft>
              <a:buSzPts val="2200"/>
              <a:buChar char="•"/>
            </a:pPr>
            <a:r>
              <a:rPr lang="en-US" sz="2200"/>
              <a:t>Noise</a:t>
            </a:r>
            <a:endParaRPr sz="2200"/>
          </a:p>
          <a:p>
            <a:pPr indent="0" lvl="0" marL="0" rtl="0" algn="l">
              <a:lnSpc>
                <a:spcPct val="150000"/>
              </a:lnSpc>
              <a:spcBef>
                <a:spcPts val="1000"/>
              </a:spcBef>
              <a:spcAft>
                <a:spcPts val="0"/>
              </a:spcAft>
              <a:buSzPts val="2400"/>
              <a:buNone/>
            </a:pPr>
            <a:r>
              <a:rPr b="1" lang="en-US" sz="2500"/>
              <a:t>Goal:</a:t>
            </a:r>
            <a:endParaRPr b="1" sz="2500">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US" sz="2200"/>
              <a:t>Our project transforms a photographed document into a clean, flat, scanned copy.</a:t>
            </a:r>
            <a:endParaRPr sz="2200"/>
          </a:p>
        </p:txBody>
      </p:sp>
      <p:sp>
        <p:nvSpPr>
          <p:cNvPr id="104" name="Google Shape;104;p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05" name="Google Shape;105;p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17/11/25</a:t>
            </a:r>
            <a:endParaRPr/>
          </a:p>
        </p:txBody>
      </p:sp>
      <p:cxnSp>
        <p:nvCxnSpPr>
          <p:cNvPr id="106" name="Google Shape;106;p3"/>
          <p:cNvCxnSpPr/>
          <p:nvPr/>
        </p:nvCxnSpPr>
        <p:spPr>
          <a:xfrm flipH="1" rot="10800000">
            <a:off x="614600" y="1578850"/>
            <a:ext cx="5046600" cy="12600"/>
          </a:xfrm>
          <a:prstGeom prst="straightConnector1">
            <a:avLst/>
          </a:prstGeom>
          <a:noFill/>
          <a:ln cap="flat" cmpd="sng" w="76200">
            <a:solidFill>
              <a:schemeClr val="dk2"/>
            </a:solidFill>
            <a:prstDash val="solid"/>
            <a:round/>
            <a:headEnd len="med" w="med" type="none"/>
            <a:tailEnd len="med" w="med" type="none"/>
          </a:ln>
        </p:spPr>
      </p:cxnSp>
      <p:pic>
        <p:nvPicPr>
          <p:cNvPr id="107" name="Google Shape;107;p3"/>
          <p:cNvPicPr preferRelativeResize="0"/>
          <p:nvPr/>
        </p:nvPicPr>
        <p:blipFill>
          <a:blip r:embed="rId3">
            <a:alphaModFix/>
          </a:blip>
          <a:stretch>
            <a:fillRect/>
          </a:stretch>
        </p:blipFill>
        <p:spPr>
          <a:xfrm>
            <a:off x="5661200" y="354900"/>
            <a:ext cx="2567750" cy="3622601"/>
          </a:xfrm>
          <a:prstGeom prst="rect">
            <a:avLst/>
          </a:prstGeom>
          <a:noFill/>
          <a:ln cap="flat" cmpd="sng" w="76200">
            <a:solidFill>
              <a:schemeClr val="dk2"/>
            </a:solidFill>
            <a:prstDash val="solid"/>
            <a:round/>
            <a:headEnd len="sm" w="sm" type="none"/>
            <a:tailEnd len="sm" w="sm" type="none"/>
          </a:ln>
        </p:spPr>
      </p:pic>
      <p:pic>
        <p:nvPicPr>
          <p:cNvPr id="108" name="Google Shape;108;p3"/>
          <p:cNvPicPr preferRelativeResize="0"/>
          <p:nvPr/>
        </p:nvPicPr>
        <p:blipFill>
          <a:blip r:embed="rId4">
            <a:alphaModFix/>
          </a:blip>
          <a:stretch>
            <a:fillRect/>
          </a:stretch>
        </p:blipFill>
        <p:spPr>
          <a:xfrm>
            <a:off x="9038350" y="317478"/>
            <a:ext cx="2992425" cy="3697434"/>
          </a:xfrm>
          <a:prstGeom prst="rect">
            <a:avLst/>
          </a:prstGeom>
          <a:noFill/>
          <a:ln cap="flat" cmpd="sng" w="76200">
            <a:solidFill>
              <a:schemeClr val="dk2"/>
            </a:solidFill>
            <a:prstDash val="solid"/>
            <a:round/>
            <a:headEnd len="sm" w="sm" type="none"/>
            <a:tailEnd len="sm" w="sm" type="none"/>
          </a:ln>
        </p:spPr>
      </p:pic>
      <p:cxnSp>
        <p:nvCxnSpPr>
          <p:cNvPr id="109" name="Google Shape;109;p3"/>
          <p:cNvCxnSpPr/>
          <p:nvPr/>
        </p:nvCxnSpPr>
        <p:spPr>
          <a:xfrm flipH="1" rot="10800000">
            <a:off x="8228950" y="2159900"/>
            <a:ext cx="809400" cy="126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85df597807_4_2"/>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sz="4500"/>
              <a:t>Methodology Overview</a:t>
            </a:r>
            <a:endParaRPr sz="4500"/>
          </a:p>
        </p:txBody>
      </p:sp>
      <p:sp>
        <p:nvSpPr>
          <p:cNvPr id="115" name="Google Shape;115;g385df597807_4_2"/>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1000"/>
              </a:spcBef>
              <a:spcAft>
                <a:spcPts val="0"/>
              </a:spcAft>
              <a:buClr>
                <a:schemeClr val="dk1"/>
              </a:buClr>
              <a:buSzPts val="2400"/>
              <a:buFont typeface="Helvetica Neue Light"/>
              <a:buNone/>
            </a:pPr>
            <a:r>
              <a:rPr b="1" lang="en-US" sz="2600">
                <a:latin typeface="Helvetica Neue"/>
                <a:ea typeface="Helvetica Neue"/>
                <a:cs typeface="Helvetica Neue"/>
                <a:sym typeface="Helvetica Neue"/>
              </a:rPr>
              <a:t>Roadmap Of Technical Approach</a:t>
            </a:r>
            <a:endParaRPr b="1" sz="2500">
              <a:latin typeface="Helvetica Neue"/>
              <a:ea typeface="Helvetica Neue"/>
              <a:cs typeface="Helvetica Neue"/>
              <a:sym typeface="Helvetica Neue"/>
            </a:endParaRPr>
          </a:p>
        </p:txBody>
      </p:sp>
      <p:sp>
        <p:nvSpPr>
          <p:cNvPr id="116" name="Google Shape;116;g385df597807_4_2"/>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b="1" lang="en-US"/>
              <a:t>|</a:t>
            </a:r>
            <a:r>
              <a:rPr lang="en-US"/>
              <a:t>  </a:t>
            </a:r>
            <a:fld id="{00000000-1234-1234-1234-123412341234}" type="slidenum">
              <a:rPr lang="en-US"/>
              <a:t>‹#›</a:t>
            </a:fld>
            <a:endParaRPr/>
          </a:p>
        </p:txBody>
      </p:sp>
      <p:sp>
        <p:nvSpPr>
          <p:cNvPr id="117" name="Google Shape;117;g385df597807_4_2"/>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400"/>
              <a:buFont typeface="Arial"/>
              <a:buNone/>
            </a:pPr>
            <a:r>
              <a:rPr lang="en-US"/>
              <a:t>17/11/25</a:t>
            </a:r>
            <a:endParaRPr/>
          </a:p>
        </p:txBody>
      </p:sp>
      <p:cxnSp>
        <p:nvCxnSpPr>
          <p:cNvPr id="118" name="Google Shape;118;g385df597807_4_2"/>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sp>
        <p:nvSpPr>
          <p:cNvPr id="119" name="Google Shape;119;g385df597807_4_2"/>
          <p:cNvSpPr/>
          <p:nvPr/>
        </p:nvSpPr>
        <p:spPr>
          <a:xfrm>
            <a:off x="876925" y="2528350"/>
            <a:ext cx="3322836" cy="900666"/>
          </a:xfrm>
          <a:prstGeom prst="flowChartTerminator">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Helvetica Neue Light"/>
                <a:ea typeface="Helvetica Neue Light"/>
                <a:cs typeface="Helvetica Neue Light"/>
                <a:sym typeface="Helvetica Neue Light"/>
              </a:rPr>
              <a:t>Preprocessing and Edge Detection</a:t>
            </a:r>
            <a:endParaRPr sz="2400">
              <a:latin typeface="Helvetica Neue Light"/>
              <a:ea typeface="Helvetica Neue Light"/>
              <a:cs typeface="Helvetica Neue Light"/>
              <a:sym typeface="Helvetica Neue Light"/>
            </a:endParaRPr>
          </a:p>
        </p:txBody>
      </p:sp>
      <p:cxnSp>
        <p:nvCxnSpPr>
          <p:cNvPr id="120" name="Google Shape;120;g385df597807_4_2"/>
          <p:cNvCxnSpPr>
            <a:stCxn id="119" idx="2"/>
            <a:endCxn id="121" idx="0"/>
          </p:cNvCxnSpPr>
          <p:nvPr/>
        </p:nvCxnSpPr>
        <p:spPr>
          <a:xfrm>
            <a:off x="2538343" y="3429016"/>
            <a:ext cx="0" cy="1472700"/>
          </a:xfrm>
          <a:prstGeom prst="straightConnector1">
            <a:avLst/>
          </a:prstGeom>
          <a:noFill/>
          <a:ln cap="flat" cmpd="sng" w="38100">
            <a:solidFill>
              <a:schemeClr val="dk2"/>
            </a:solidFill>
            <a:prstDash val="solid"/>
            <a:round/>
            <a:headEnd len="med" w="med" type="none"/>
            <a:tailEnd len="med" w="med" type="diamond"/>
          </a:ln>
        </p:spPr>
      </p:cxnSp>
      <p:sp>
        <p:nvSpPr>
          <p:cNvPr id="121" name="Google Shape;121;g385df597807_4_2"/>
          <p:cNvSpPr/>
          <p:nvPr/>
        </p:nvSpPr>
        <p:spPr>
          <a:xfrm>
            <a:off x="876913" y="4901775"/>
            <a:ext cx="3322836" cy="900666"/>
          </a:xfrm>
          <a:prstGeom prst="flowChartTerminator">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Helvetica Neue Light"/>
                <a:ea typeface="Helvetica Neue Light"/>
                <a:cs typeface="Helvetica Neue Light"/>
                <a:sym typeface="Helvetica Neue Light"/>
              </a:rPr>
              <a:t>Document Contour</a:t>
            </a:r>
            <a:r>
              <a:rPr lang="en-US" sz="2400">
                <a:latin typeface="Helvetica Neue Light"/>
                <a:ea typeface="Helvetica Neue Light"/>
                <a:cs typeface="Helvetica Neue Light"/>
                <a:sym typeface="Helvetica Neue Light"/>
              </a:rPr>
              <a:t> Detection</a:t>
            </a:r>
            <a:endParaRPr sz="2400">
              <a:latin typeface="Helvetica Neue Light"/>
              <a:ea typeface="Helvetica Neue Light"/>
              <a:cs typeface="Helvetica Neue Light"/>
              <a:sym typeface="Helvetica Neue Light"/>
            </a:endParaRPr>
          </a:p>
        </p:txBody>
      </p:sp>
      <p:cxnSp>
        <p:nvCxnSpPr>
          <p:cNvPr id="122" name="Google Shape;122;g385df597807_4_2"/>
          <p:cNvCxnSpPr>
            <a:stCxn id="121" idx="3"/>
          </p:cNvCxnSpPr>
          <p:nvPr/>
        </p:nvCxnSpPr>
        <p:spPr>
          <a:xfrm flipH="1" rot="10800000">
            <a:off x="4199749" y="2915508"/>
            <a:ext cx="2773200" cy="2436600"/>
          </a:xfrm>
          <a:prstGeom prst="straightConnector1">
            <a:avLst/>
          </a:prstGeom>
          <a:noFill/>
          <a:ln cap="flat" cmpd="sng" w="38100">
            <a:solidFill>
              <a:schemeClr val="dk2"/>
            </a:solidFill>
            <a:prstDash val="solid"/>
            <a:round/>
            <a:headEnd len="med" w="med" type="none"/>
            <a:tailEnd len="med" w="med" type="diamond"/>
          </a:ln>
        </p:spPr>
      </p:cxnSp>
      <p:sp>
        <p:nvSpPr>
          <p:cNvPr id="123" name="Google Shape;123;g385df597807_4_2"/>
          <p:cNvSpPr/>
          <p:nvPr/>
        </p:nvSpPr>
        <p:spPr>
          <a:xfrm>
            <a:off x="6972950" y="2528350"/>
            <a:ext cx="3322836" cy="900666"/>
          </a:xfrm>
          <a:prstGeom prst="flowChartTerminator">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Helvetica Neue Light"/>
                <a:ea typeface="Helvetica Neue Light"/>
                <a:cs typeface="Helvetica Neue Light"/>
                <a:sym typeface="Helvetica Neue Light"/>
              </a:rPr>
              <a:t>Perspective Correction</a:t>
            </a:r>
            <a:endParaRPr sz="2400">
              <a:latin typeface="Helvetica Neue Light"/>
              <a:ea typeface="Helvetica Neue Light"/>
              <a:cs typeface="Helvetica Neue Light"/>
              <a:sym typeface="Helvetica Neue Light"/>
            </a:endParaRPr>
          </a:p>
        </p:txBody>
      </p:sp>
      <p:cxnSp>
        <p:nvCxnSpPr>
          <p:cNvPr id="124" name="Google Shape;124;g385df597807_4_2"/>
          <p:cNvCxnSpPr/>
          <p:nvPr/>
        </p:nvCxnSpPr>
        <p:spPr>
          <a:xfrm>
            <a:off x="8634356" y="3429016"/>
            <a:ext cx="0" cy="1472700"/>
          </a:xfrm>
          <a:prstGeom prst="straightConnector1">
            <a:avLst/>
          </a:prstGeom>
          <a:noFill/>
          <a:ln cap="flat" cmpd="sng" w="38100">
            <a:solidFill>
              <a:schemeClr val="dk2"/>
            </a:solidFill>
            <a:prstDash val="solid"/>
            <a:round/>
            <a:headEnd len="med" w="med" type="none"/>
            <a:tailEnd len="med" w="med" type="diamond"/>
          </a:ln>
        </p:spPr>
      </p:cxnSp>
      <p:sp>
        <p:nvSpPr>
          <p:cNvPr id="125" name="Google Shape;125;g385df597807_4_2"/>
          <p:cNvSpPr/>
          <p:nvPr/>
        </p:nvSpPr>
        <p:spPr>
          <a:xfrm>
            <a:off x="6972938" y="4901775"/>
            <a:ext cx="3322836" cy="900666"/>
          </a:xfrm>
          <a:prstGeom prst="flowChartTerminator">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Helvetica Neue Light"/>
                <a:ea typeface="Helvetica Neue Light"/>
                <a:cs typeface="Helvetica Neue Light"/>
                <a:sym typeface="Helvetica Neue Light"/>
              </a:rPr>
              <a:t>Final Enhancement &amp; Binarization</a:t>
            </a:r>
            <a:endParaRPr sz="2400">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a44f31a70d_0_14"/>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Step 1: Preprocessing &amp; Edge Detection</a:t>
            </a:r>
            <a:endParaRPr/>
          </a:p>
        </p:txBody>
      </p:sp>
      <p:sp>
        <p:nvSpPr>
          <p:cNvPr id="132" name="Google Shape;132;g3a44f31a70d_0_14"/>
          <p:cNvSpPr txBox="1"/>
          <p:nvPr>
            <p:ph idx="1" type="body"/>
          </p:nvPr>
        </p:nvSpPr>
        <p:spPr>
          <a:xfrm>
            <a:off x="582426" y="1768950"/>
            <a:ext cx="5053800" cy="4351200"/>
          </a:xfrm>
          <a:prstGeom prst="rect">
            <a:avLst/>
          </a:prstGeom>
        </p:spPr>
        <p:txBody>
          <a:bodyPr anchorCtr="0" anchor="t" bIns="45700" lIns="91425" spcFirstLastPara="1" rIns="91425" wrap="square" tIns="45700">
            <a:normAutofit fontScale="47500" lnSpcReduction="10000"/>
          </a:bodyPr>
          <a:lstStyle/>
          <a:p>
            <a:pPr indent="0" lvl="0" marL="0" rtl="0" algn="l">
              <a:spcBef>
                <a:spcPts val="1000"/>
              </a:spcBef>
              <a:spcAft>
                <a:spcPts val="0"/>
              </a:spcAft>
              <a:buNone/>
            </a:pPr>
            <a:r>
              <a:rPr lang="en-US" sz="4694"/>
              <a:t>Goal: To find the outline of the paper.</a:t>
            </a:r>
            <a:endParaRPr sz="4694"/>
          </a:p>
          <a:p>
            <a:pPr indent="0" lvl="0" marL="0" rtl="0" algn="l">
              <a:spcBef>
                <a:spcPts val="1000"/>
              </a:spcBef>
              <a:spcAft>
                <a:spcPts val="0"/>
              </a:spcAft>
              <a:buNone/>
            </a:pPr>
            <a:r>
              <a:rPr lang="en-US"/>
              <a:t> </a:t>
            </a:r>
            <a:endParaRPr/>
          </a:p>
          <a:p>
            <a:pPr indent="457200" lvl="0" marL="0" rtl="0" algn="ctr">
              <a:spcBef>
                <a:spcPts val="1000"/>
              </a:spcBef>
              <a:spcAft>
                <a:spcPts val="0"/>
              </a:spcAft>
              <a:buNone/>
            </a:pPr>
            <a:r>
              <a:rPr lang="en-US" sz="3650"/>
              <a:t>Read the input image.</a:t>
            </a:r>
            <a:endParaRPr sz="3650"/>
          </a:p>
          <a:p>
            <a:pPr indent="457200" lvl="0" marL="0" rtl="0" algn="ctr">
              <a:spcBef>
                <a:spcPts val="1000"/>
              </a:spcBef>
              <a:spcAft>
                <a:spcPts val="0"/>
              </a:spcAft>
              <a:buNone/>
            </a:pPr>
            <a:r>
              <a:t/>
            </a:r>
            <a:endParaRPr sz="3650"/>
          </a:p>
          <a:p>
            <a:pPr indent="457200" lvl="0" marL="0" rtl="0" algn="ctr">
              <a:spcBef>
                <a:spcPts val="1000"/>
              </a:spcBef>
              <a:spcAft>
                <a:spcPts val="0"/>
              </a:spcAft>
              <a:buNone/>
            </a:pPr>
            <a:r>
              <a:rPr lang="en-US" sz="3650"/>
              <a:t>Convert to Grayscale </a:t>
            </a:r>
            <a:endParaRPr sz="3650"/>
          </a:p>
          <a:p>
            <a:pPr indent="457200" lvl="0" marL="457200" rtl="0" algn="ctr">
              <a:spcBef>
                <a:spcPts val="1000"/>
              </a:spcBef>
              <a:spcAft>
                <a:spcPts val="0"/>
              </a:spcAft>
              <a:buNone/>
            </a:pPr>
            <a:r>
              <a:rPr lang="en-US" sz="3650"/>
              <a:t>(simplifies processing).</a:t>
            </a:r>
            <a:endParaRPr sz="3650"/>
          </a:p>
          <a:p>
            <a:pPr indent="0" lvl="0" marL="914400" rtl="0" algn="ctr">
              <a:spcBef>
                <a:spcPts val="1000"/>
              </a:spcBef>
              <a:spcAft>
                <a:spcPts val="0"/>
              </a:spcAft>
              <a:buNone/>
            </a:pPr>
            <a:r>
              <a:t/>
            </a:r>
            <a:endParaRPr sz="3650"/>
          </a:p>
          <a:p>
            <a:pPr indent="457200" lvl="0" marL="0" rtl="0" algn="ctr">
              <a:spcBef>
                <a:spcPts val="1000"/>
              </a:spcBef>
              <a:spcAft>
                <a:spcPts val="0"/>
              </a:spcAft>
              <a:buNone/>
            </a:pPr>
            <a:r>
              <a:rPr lang="en-US" sz="3650"/>
              <a:t>Apply Gaussian Blur </a:t>
            </a:r>
            <a:endParaRPr sz="3650"/>
          </a:p>
          <a:p>
            <a:pPr indent="457200" lvl="0" marL="457200" rtl="0" algn="ctr">
              <a:spcBef>
                <a:spcPts val="1000"/>
              </a:spcBef>
              <a:spcAft>
                <a:spcPts val="0"/>
              </a:spcAft>
              <a:buNone/>
            </a:pPr>
            <a:r>
              <a:rPr lang="en-US" sz="3650"/>
              <a:t>(reduces high-frequency noise).</a:t>
            </a:r>
            <a:endParaRPr sz="3650"/>
          </a:p>
          <a:p>
            <a:pPr indent="0" lvl="0" marL="0" rtl="0" algn="ctr">
              <a:spcBef>
                <a:spcPts val="1000"/>
              </a:spcBef>
              <a:spcAft>
                <a:spcPts val="0"/>
              </a:spcAft>
              <a:buNone/>
            </a:pPr>
            <a:r>
              <a:t/>
            </a:r>
            <a:endParaRPr sz="3650"/>
          </a:p>
          <a:p>
            <a:pPr indent="457200" lvl="0" marL="457200" rtl="0" algn="ctr">
              <a:spcBef>
                <a:spcPts val="1000"/>
              </a:spcBef>
              <a:spcAft>
                <a:spcPts val="0"/>
              </a:spcAft>
              <a:buNone/>
            </a:pPr>
            <a:r>
              <a:rPr lang="en-US" sz="3650"/>
              <a:t>Use Canny Edge Detector to find edges.</a:t>
            </a:r>
            <a:endParaRPr sz="3650"/>
          </a:p>
          <a:p>
            <a:pPr indent="0" lvl="0" marL="0" rtl="0" algn="ctr">
              <a:spcBef>
                <a:spcPts val="1000"/>
              </a:spcBef>
              <a:spcAft>
                <a:spcPts val="0"/>
              </a:spcAft>
              <a:buNone/>
            </a:pPr>
            <a:r>
              <a:t/>
            </a:r>
            <a:endParaRPr/>
          </a:p>
          <a:p>
            <a:pPr indent="0" lvl="0" marL="0" rtl="0" algn="l">
              <a:spcBef>
                <a:spcPts val="1000"/>
              </a:spcBef>
              <a:spcAft>
                <a:spcPts val="0"/>
              </a:spcAft>
              <a:buNone/>
            </a:pPr>
            <a:r>
              <a:t/>
            </a:r>
            <a:endParaRPr/>
          </a:p>
        </p:txBody>
      </p:sp>
      <p:sp>
        <p:nvSpPr>
          <p:cNvPr id="133" name="Google Shape;133;g3a44f31a70d_0_14"/>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cxnSp>
        <p:nvCxnSpPr>
          <p:cNvPr id="134" name="Google Shape;134;g3a44f31a70d_0_14"/>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sp>
        <p:nvSpPr>
          <p:cNvPr id="135" name="Google Shape;135;g3a44f31a70d_0_14"/>
          <p:cNvSpPr/>
          <p:nvPr/>
        </p:nvSpPr>
        <p:spPr>
          <a:xfrm>
            <a:off x="5636325" y="1591438"/>
            <a:ext cx="6363600" cy="4647000"/>
          </a:xfrm>
          <a:prstGeom prst="rect">
            <a:avLst/>
          </a:prstGeom>
          <a:solidFill>
            <a:schemeClr val="lt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g3a44f31a70d_0_14"/>
          <p:cNvCxnSpPr/>
          <p:nvPr/>
        </p:nvCxnSpPr>
        <p:spPr>
          <a:xfrm>
            <a:off x="564625" y="2197675"/>
            <a:ext cx="0" cy="3291300"/>
          </a:xfrm>
          <a:prstGeom prst="straightConnector1">
            <a:avLst/>
          </a:prstGeom>
          <a:noFill/>
          <a:ln cap="flat" cmpd="sng" w="28575">
            <a:solidFill>
              <a:schemeClr val="dk2"/>
            </a:solidFill>
            <a:prstDash val="solid"/>
            <a:round/>
            <a:headEnd len="med" w="med" type="none"/>
            <a:tailEnd len="med" w="med" type="none"/>
          </a:ln>
        </p:spPr>
      </p:cxnSp>
      <p:cxnSp>
        <p:nvCxnSpPr>
          <p:cNvPr id="137" name="Google Shape;137;g3a44f31a70d_0_14"/>
          <p:cNvCxnSpPr/>
          <p:nvPr/>
        </p:nvCxnSpPr>
        <p:spPr>
          <a:xfrm>
            <a:off x="564625" y="2540825"/>
            <a:ext cx="1336500" cy="0"/>
          </a:xfrm>
          <a:prstGeom prst="straightConnector1">
            <a:avLst/>
          </a:prstGeom>
          <a:noFill/>
          <a:ln cap="flat" cmpd="sng" w="28575">
            <a:solidFill>
              <a:schemeClr val="dk2"/>
            </a:solidFill>
            <a:prstDash val="solid"/>
            <a:round/>
            <a:headEnd len="med" w="med" type="none"/>
            <a:tailEnd len="med" w="med" type="triangle"/>
          </a:ln>
        </p:spPr>
      </p:cxnSp>
      <p:cxnSp>
        <p:nvCxnSpPr>
          <p:cNvPr id="138" name="Google Shape;138;g3a44f31a70d_0_14"/>
          <p:cNvCxnSpPr/>
          <p:nvPr/>
        </p:nvCxnSpPr>
        <p:spPr>
          <a:xfrm>
            <a:off x="564625" y="3384425"/>
            <a:ext cx="1199100" cy="2400"/>
          </a:xfrm>
          <a:prstGeom prst="straightConnector1">
            <a:avLst/>
          </a:prstGeom>
          <a:noFill/>
          <a:ln cap="flat" cmpd="sng" w="28575">
            <a:solidFill>
              <a:schemeClr val="dk2"/>
            </a:solidFill>
            <a:prstDash val="solid"/>
            <a:round/>
            <a:headEnd len="med" w="med" type="none"/>
            <a:tailEnd len="med" w="med" type="triangle"/>
          </a:ln>
        </p:spPr>
      </p:cxnSp>
      <p:cxnSp>
        <p:nvCxnSpPr>
          <p:cNvPr id="139" name="Google Shape;139;g3a44f31a70d_0_14"/>
          <p:cNvCxnSpPr/>
          <p:nvPr/>
        </p:nvCxnSpPr>
        <p:spPr>
          <a:xfrm flipH="1" rot="10800000">
            <a:off x="564625" y="4230413"/>
            <a:ext cx="1024200" cy="15000"/>
          </a:xfrm>
          <a:prstGeom prst="straightConnector1">
            <a:avLst/>
          </a:prstGeom>
          <a:noFill/>
          <a:ln cap="flat" cmpd="sng" w="28575">
            <a:solidFill>
              <a:schemeClr val="dk2"/>
            </a:solidFill>
            <a:prstDash val="solid"/>
            <a:round/>
            <a:headEnd len="med" w="med" type="none"/>
            <a:tailEnd len="med" w="med" type="triangle"/>
          </a:ln>
        </p:spPr>
      </p:cxnSp>
      <p:cxnSp>
        <p:nvCxnSpPr>
          <p:cNvPr id="140" name="Google Shape;140;g3a44f31a70d_0_14"/>
          <p:cNvCxnSpPr/>
          <p:nvPr/>
        </p:nvCxnSpPr>
        <p:spPr>
          <a:xfrm flipH="1" rot="10800000">
            <a:off x="564625" y="5096875"/>
            <a:ext cx="724500" cy="12300"/>
          </a:xfrm>
          <a:prstGeom prst="straightConnector1">
            <a:avLst/>
          </a:prstGeom>
          <a:noFill/>
          <a:ln cap="flat" cmpd="sng" w="28575">
            <a:solidFill>
              <a:schemeClr val="dk2"/>
            </a:solidFill>
            <a:prstDash val="solid"/>
            <a:round/>
            <a:headEnd len="med" w="med" type="none"/>
            <a:tailEnd len="med" w="med" type="triangle"/>
          </a:ln>
        </p:spPr>
      </p:cxnSp>
      <p:pic>
        <p:nvPicPr>
          <p:cNvPr id="141" name="Google Shape;141;g3a44f31a70d_0_14"/>
          <p:cNvPicPr preferRelativeResize="0"/>
          <p:nvPr/>
        </p:nvPicPr>
        <p:blipFill>
          <a:blip r:embed="rId3">
            <a:alphaModFix/>
          </a:blip>
          <a:stretch>
            <a:fillRect/>
          </a:stretch>
        </p:blipFill>
        <p:spPr>
          <a:xfrm>
            <a:off x="9681650" y="2509149"/>
            <a:ext cx="2143375" cy="2857833"/>
          </a:xfrm>
          <a:prstGeom prst="rect">
            <a:avLst/>
          </a:prstGeom>
          <a:noFill/>
          <a:ln cap="flat" cmpd="sng" w="76200">
            <a:solidFill>
              <a:schemeClr val="dk2"/>
            </a:solidFill>
            <a:prstDash val="solid"/>
            <a:round/>
            <a:headEnd len="sm" w="sm" type="none"/>
            <a:tailEnd len="sm" w="sm" type="none"/>
          </a:ln>
        </p:spPr>
      </p:pic>
      <p:pic>
        <p:nvPicPr>
          <p:cNvPr id="142" name="Google Shape;142;g3a44f31a70d_0_14"/>
          <p:cNvPicPr preferRelativeResize="0"/>
          <p:nvPr/>
        </p:nvPicPr>
        <p:blipFill>
          <a:blip r:embed="rId4">
            <a:alphaModFix/>
          </a:blip>
          <a:stretch>
            <a:fillRect/>
          </a:stretch>
        </p:blipFill>
        <p:spPr>
          <a:xfrm>
            <a:off x="5812538" y="3001782"/>
            <a:ext cx="1336500" cy="1885544"/>
          </a:xfrm>
          <a:prstGeom prst="rect">
            <a:avLst/>
          </a:prstGeom>
          <a:noFill/>
          <a:ln cap="flat" cmpd="sng" w="76200">
            <a:solidFill>
              <a:schemeClr val="dk2"/>
            </a:solidFill>
            <a:prstDash val="solid"/>
            <a:round/>
            <a:headEnd len="sm" w="sm" type="none"/>
            <a:tailEnd len="sm" w="sm" type="none"/>
          </a:ln>
        </p:spPr>
      </p:pic>
      <p:pic>
        <p:nvPicPr>
          <p:cNvPr id="143" name="Google Shape;143;g3a44f31a70d_0_14"/>
          <p:cNvPicPr preferRelativeResize="0"/>
          <p:nvPr/>
        </p:nvPicPr>
        <p:blipFill>
          <a:blip r:embed="rId5">
            <a:alphaModFix/>
          </a:blip>
          <a:stretch>
            <a:fillRect/>
          </a:stretch>
        </p:blipFill>
        <p:spPr>
          <a:xfrm>
            <a:off x="7423837" y="2753999"/>
            <a:ext cx="1983025" cy="2321924"/>
          </a:xfrm>
          <a:prstGeom prst="rect">
            <a:avLst/>
          </a:prstGeom>
          <a:noFill/>
          <a:ln cap="flat" cmpd="sng" w="76200">
            <a:solidFill>
              <a:schemeClr val="dk2"/>
            </a:solidFill>
            <a:prstDash val="solid"/>
            <a:round/>
            <a:headEnd len="sm" w="sm" type="none"/>
            <a:tailEnd len="sm" w="sm" type="none"/>
          </a:ln>
        </p:spPr>
      </p:pic>
      <p:sp>
        <p:nvSpPr>
          <p:cNvPr id="144" name="Google Shape;144;g3a44f31a70d_0_14"/>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a44f31a70d_0_23"/>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Step 2: Document Contour Detection</a:t>
            </a:r>
            <a:endParaRPr/>
          </a:p>
        </p:txBody>
      </p:sp>
      <p:sp>
        <p:nvSpPr>
          <p:cNvPr id="151" name="Google Shape;151;g3a44f31a70d_0_23"/>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cxnSp>
        <p:nvCxnSpPr>
          <p:cNvPr id="152" name="Google Shape;152;g3a44f31a70d_0_23"/>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sp>
        <p:nvSpPr>
          <p:cNvPr id="153" name="Google Shape;153;g3a44f31a70d_0_23"/>
          <p:cNvSpPr txBox="1"/>
          <p:nvPr>
            <p:ph idx="1" type="body"/>
          </p:nvPr>
        </p:nvSpPr>
        <p:spPr>
          <a:xfrm>
            <a:off x="582426" y="1768950"/>
            <a:ext cx="50538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200"/>
              <a:t>Goal: To isolate the 4 corners of the document from all other edges.</a:t>
            </a:r>
            <a:endParaRPr sz="1750"/>
          </a:p>
          <a:p>
            <a:pPr indent="0" lvl="0" marL="0" rtl="0" algn="ctr">
              <a:spcBef>
                <a:spcPts val="1000"/>
              </a:spcBef>
              <a:spcAft>
                <a:spcPts val="0"/>
              </a:spcAft>
              <a:buNone/>
            </a:pPr>
            <a:r>
              <a:rPr lang="en-US" sz="1750"/>
              <a:t>		</a:t>
            </a:r>
            <a:endParaRPr sz="1750"/>
          </a:p>
          <a:p>
            <a:pPr indent="457200" lvl="0" marL="457200" rtl="0" algn="ctr">
              <a:spcBef>
                <a:spcPts val="1000"/>
              </a:spcBef>
              <a:spcAft>
                <a:spcPts val="0"/>
              </a:spcAft>
              <a:buNone/>
            </a:pPr>
            <a:r>
              <a:rPr lang="en-US" sz="1750"/>
              <a:t>Use </a:t>
            </a:r>
            <a:r>
              <a:rPr b="1" i="1" lang="en-US" sz="1750">
                <a:latin typeface="Helvetica Neue"/>
                <a:ea typeface="Helvetica Neue"/>
                <a:cs typeface="Helvetica Neue"/>
                <a:sym typeface="Helvetica Neue"/>
              </a:rPr>
              <a:t>cv2.findContours</a:t>
            </a:r>
            <a:r>
              <a:rPr lang="en-US" sz="1750"/>
              <a:t> to get a list of all detected outlines.</a:t>
            </a:r>
            <a:endParaRPr sz="1750"/>
          </a:p>
          <a:p>
            <a:pPr indent="0" lvl="0" marL="0" rtl="0" algn="ctr">
              <a:spcBef>
                <a:spcPts val="1000"/>
              </a:spcBef>
              <a:spcAft>
                <a:spcPts val="0"/>
              </a:spcAft>
              <a:buNone/>
            </a:pPr>
            <a:r>
              <a:t/>
            </a:r>
            <a:endParaRPr sz="1750"/>
          </a:p>
          <a:p>
            <a:pPr indent="457200" lvl="0" marL="457200" rtl="0" algn="ctr">
              <a:spcBef>
                <a:spcPts val="1000"/>
              </a:spcBef>
              <a:spcAft>
                <a:spcPts val="0"/>
              </a:spcAft>
              <a:buNone/>
            </a:pPr>
            <a:r>
              <a:rPr b="1" i="1" lang="en-US" sz="1750">
                <a:latin typeface="Helvetica Neue"/>
                <a:ea typeface="Helvetica Neue"/>
                <a:cs typeface="Helvetica Neue"/>
                <a:sym typeface="Helvetica Neue"/>
              </a:rPr>
              <a:t>Sort contours by area</a:t>
            </a:r>
            <a:r>
              <a:rPr lang="en-US" sz="1750"/>
              <a:t> and select the largest one, assuming it's the document.</a:t>
            </a:r>
            <a:endParaRPr sz="1750"/>
          </a:p>
          <a:p>
            <a:pPr indent="0" lvl="0" marL="0" rtl="0" algn="ctr">
              <a:spcBef>
                <a:spcPts val="1000"/>
              </a:spcBef>
              <a:spcAft>
                <a:spcPts val="0"/>
              </a:spcAft>
              <a:buNone/>
            </a:pPr>
            <a:r>
              <a:t/>
            </a:r>
            <a:endParaRPr sz="1750"/>
          </a:p>
          <a:p>
            <a:pPr indent="457200" lvl="0" marL="457200" rtl="0" algn="ctr">
              <a:lnSpc>
                <a:spcPct val="100000"/>
              </a:lnSpc>
              <a:spcBef>
                <a:spcPts val="1000"/>
              </a:spcBef>
              <a:spcAft>
                <a:spcPts val="0"/>
              </a:spcAft>
              <a:buNone/>
            </a:pPr>
            <a:r>
              <a:rPr lang="en-US" sz="1750"/>
              <a:t>Use </a:t>
            </a:r>
            <a:r>
              <a:rPr b="1" i="1" lang="en-US" sz="1750">
                <a:latin typeface="Helvetica Neue"/>
                <a:ea typeface="Helvetica Neue"/>
                <a:cs typeface="Helvetica Neue"/>
                <a:sym typeface="Helvetica Neue"/>
              </a:rPr>
              <a:t>cv2.approxPolyDP</a:t>
            </a:r>
            <a:r>
              <a:rPr lang="en-US" sz="1750"/>
              <a:t> to simplify the contour into a polygon. (We expect 4 corners for a doc)</a:t>
            </a:r>
            <a:endParaRPr/>
          </a:p>
        </p:txBody>
      </p:sp>
      <p:cxnSp>
        <p:nvCxnSpPr>
          <p:cNvPr id="154" name="Google Shape;154;g3a44f31a70d_0_23"/>
          <p:cNvCxnSpPr/>
          <p:nvPr/>
        </p:nvCxnSpPr>
        <p:spPr>
          <a:xfrm>
            <a:off x="589625" y="2562850"/>
            <a:ext cx="0" cy="3026100"/>
          </a:xfrm>
          <a:prstGeom prst="straightConnector1">
            <a:avLst/>
          </a:prstGeom>
          <a:noFill/>
          <a:ln cap="flat" cmpd="sng" w="28575">
            <a:solidFill>
              <a:schemeClr val="dk2"/>
            </a:solidFill>
            <a:prstDash val="solid"/>
            <a:round/>
            <a:headEnd len="med" w="med" type="none"/>
            <a:tailEnd len="med" w="med" type="none"/>
          </a:ln>
        </p:spPr>
      </p:cxnSp>
      <p:cxnSp>
        <p:nvCxnSpPr>
          <p:cNvPr id="155" name="Google Shape;155;g3a44f31a70d_0_23"/>
          <p:cNvCxnSpPr/>
          <p:nvPr/>
        </p:nvCxnSpPr>
        <p:spPr>
          <a:xfrm flipH="1" rot="10800000">
            <a:off x="582425" y="2978088"/>
            <a:ext cx="994200" cy="37500"/>
          </a:xfrm>
          <a:prstGeom prst="straightConnector1">
            <a:avLst/>
          </a:prstGeom>
          <a:noFill/>
          <a:ln cap="flat" cmpd="sng" w="28575">
            <a:solidFill>
              <a:schemeClr val="dk2"/>
            </a:solidFill>
            <a:prstDash val="solid"/>
            <a:round/>
            <a:headEnd len="med" w="med" type="none"/>
            <a:tailEnd len="med" w="med" type="triangle"/>
          </a:ln>
        </p:spPr>
      </p:cxnSp>
      <p:cxnSp>
        <p:nvCxnSpPr>
          <p:cNvPr id="156" name="Google Shape;156;g3a44f31a70d_0_23"/>
          <p:cNvCxnSpPr/>
          <p:nvPr/>
        </p:nvCxnSpPr>
        <p:spPr>
          <a:xfrm flipH="1" rot="10800000">
            <a:off x="589625" y="3989975"/>
            <a:ext cx="936900" cy="16500"/>
          </a:xfrm>
          <a:prstGeom prst="straightConnector1">
            <a:avLst/>
          </a:prstGeom>
          <a:noFill/>
          <a:ln cap="flat" cmpd="sng" w="28575">
            <a:solidFill>
              <a:schemeClr val="dk2"/>
            </a:solidFill>
            <a:prstDash val="solid"/>
            <a:round/>
            <a:headEnd len="med" w="med" type="none"/>
            <a:tailEnd len="med" w="med" type="triangle"/>
          </a:ln>
        </p:spPr>
      </p:cxnSp>
      <p:cxnSp>
        <p:nvCxnSpPr>
          <p:cNvPr id="157" name="Google Shape;157;g3a44f31a70d_0_23"/>
          <p:cNvCxnSpPr/>
          <p:nvPr/>
        </p:nvCxnSpPr>
        <p:spPr>
          <a:xfrm flipH="1" rot="10800000">
            <a:off x="594300" y="4980838"/>
            <a:ext cx="662100" cy="3900"/>
          </a:xfrm>
          <a:prstGeom prst="straightConnector1">
            <a:avLst/>
          </a:prstGeom>
          <a:noFill/>
          <a:ln cap="flat" cmpd="sng" w="28575">
            <a:solidFill>
              <a:schemeClr val="dk2"/>
            </a:solidFill>
            <a:prstDash val="solid"/>
            <a:round/>
            <a:headEnd len="med" w="med" type="none"/>
            <a:tailEnd len="med" w="med" type="triangle"/>
          </a:ln>
        </p:spPr>
      </p:cxnSp>
      <p:pic>
        <p:nvPicPr>
          <p:cNvPr id="158" name="Google Shape;158;g3a44f31a70d_0_23"/>
          <p:cNvPicPr preferRelativeResize="0"/>
          <p:nvPr/>
        </p:nvPicPr>
        <p:blipFill>
          <a:blip r:embed="rId3">
            <a:alphaModFix/>
          </a:blip>
          <a:stretch>
            <a:fillRect/>
          </a:stretch>
        </p:blipFill>
        <p:spPr>
          <a:xfrm>
            <a:off x="5636225" y="1592399"/>
            <a:ext cx="3158275" cy="4647000"/>
          </a:xfrm>
          <a:prstGeom prst="rect">
            <a:avLst/>
          </a:prstGeom>
          <a:noFill/>
          <a:ln cap="flat" cmpd="sng" w="76200">
            <a:solidFill>
              <a:schemeClr val="dk2"/>
            </a:solidFill>
            <a:prstDash val="solid"/>
            <a:round/>
            <a:headEnd len="sm" w="sm" type="none"/>
            <a:tailEnd len="sm" w="sm" type="none"/>
          </a:ln>
        </p:spPr>
      </p:pic>
      <p:pic>
        <p:nvPicPr>
          <p:cNvPr id="159" name="Google Shape;159;g3a44f31a70d_0_23"/>
          <p:cNvPicPr preferRelativeResize="0"/>
          <p:nvPr/>
        </p:nvPicPr>
        <p:blipFill>
          <a:blip r:embed="rId4">
            <a:alphaModFix/>
          </a:blip>
          <a:stretch>
            <a:fillRect/>
          </a:stretch>
        </p:blipFill>
        <p:spPr>
          <a:xfrm>
            <a:off x="8921875" y="1592400"/>
            <a:ext cx="2987600" cy="4647000"/>
          </a:xfrm>
          <a:prstGeom prst="rect">
            <a:avLst/>
          </a:prstGeom>
          <a:noFill/>
          <a:ln cap="flat" cmpd="sng" w="76200">
            <a:solidFill>
              <a:schemeClr val="dk2"/>
            </a:solidFill>
            <a:prstDash val="solid"/>
            <a:round/>
            <a:headEnd len="sm" w="sm" type="none"/>
            <a:tailEnd len="sm" w="sm" type="none"/>
          </a:ln>
        </p:spPr>
      </p:pic>
      <p:sp>
        <p:nvSpPr>
          <p:cNvPr id="160" name="Google Shape;160;g3a44f31a70d_0_23"/>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a44f31a70d_0_31"/>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Step 3: Perspective Transformation</a:t>
            </a:r>
            <a:endParaRPr/>
          </a:p>
        </p:txBody>
      </p:sp>
      <p:sp>
        <p:nvSpPr>
          <p:cNvPr id="167" name="Google Shape;167;g3a44f31a70d_0_31"/>
          <p:cNvSpPr txBox="1"/>
          <p:nvPr>
            <p:ph idx="1" type="body"/>
          </p:nvPr>
        </p:nvSpPr>
        <p:spPr>
          <a:xfrm>
            <a:off x="582425" y="1591450"/>
            <a:ext cx="5053800" cy="45288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lang="en-US" sz="2200"/>
              <a:t>Goal: To "</a:t>
            </a:r>
            <a:r>
              <a:rPr lang="en-US" sz="2200"/>
              <a:t>unwarp</a:t>
            </a:r>
            <a:r>
              <a:rPr lang="en-US" sz="2200"/>
              <a:t>" the document and make it flat.</a:t>
            </a:r>
            <a:endParaRPr sz="2200"/>
          </a:p>
          <a:p>
            <a:pPr indent="0" lvl="0" marL="0" rtl="0" algn="l">
              <a:spcBef>
                <a:spcPts val="1000"/>
              </a:spcBef>
              <a:spcAft>
                <a:spcPts val="0"/>
              </a:spcAft>
              <a:buNone/>
            </a:pPr>
            <a:r>
              <a:t/>
            </a:r>
            <a:endParaRPr/>
          </a:p>
          <a:p>
            <a:pPr indent="457200" lvl="0" marL="914400" rtl="0" algn="l">
              <a:spcBef>
                <a:spcPts val="1000"/>
              </a:spcBef>
              <a:spcAft>
                <a:spcPts val="0"/>
              </a:spcAft>
              <a:buNone/>
            </a:pPr>
            <a:r>
              <a:rPr lang="en-US" sz="1750"/>
              <a:t>Order the 4 detected corner points</a:t>
            </a:r>
            <a:endParaRPr sz="1750"/>
          </a:p>
          <a:p>
            <a:pPr indent="457200" lvl="0" marL="914400" rtl="0" algn="l">
              <a:spcBef>
                <a:spcPts val="1000"/>
              </a:spcBef>
              <a:spcAft>
                <a:spcPts val="0"/>
              </a:spcAft>
              <a:buNone/>
            </a:pPr>
            <a:r>
              <a:t/>
            </a:r>
            <a:endParaRPr sz="1750"/>
          </a:p>
          <a:p>
            <a:pPr indent="457200" lvl="0" marL="914400" rtl="0" algn="ctr">
              <a:spcBef>
                <a:spcPts val="1000"/>
              </a:spcBef>
              <a:spcAft>
                <a:spcPts val="0"/>
              </a:spcAft>
              <a:buClr>
                <a:schemeClr val="dk1"/>
              </a:buClr>
              <a:buSzPts val="1100"/>
              <a:buFont typeface="Arial"/>
              <a:buNone/>
            </a:pPr>
            <a:r>
              <a:rPr lang="en-US" sz="1750"/>
              <a:t>Define the dimensions of the target output image</a:t>
            </a:r>
            <a:endParaRPr sz="1750"/>
          </a:p>
          <a:p>
            <a:pPr indent="457200" lvl="0" marL="914400" rtl="0" algn="ctr">
              <a:spcBef>
                <a:spcPts val="1000"/>
              </a:spcBef>
              <a:spcAft>
                <a:spcPts val="0"/>
              </a:spcAft>
              <a:buNone/>
            </a:pPr>
            <a:r>
              <a:t/>
            </a:r>
            <a:endParaRPr sz="1750"/>
          </a:p>
          <a:p>
            <a:pPr indent="457200" lvl="0" marL="914400" rtl="0" algn="ctr">
              <a:spcBef>
                <a:spcPts val="1000"/>
              </a:spcBef>
              <a:spcAft>
                <a:spcPts val="0"/>
              </a:spcAft>
              <a:buClr>
                <a:schemeClr val="dk1"/>
              </a:buClr>
              <a:buSzPts val="1100"/>
              <a:buFont typeface="Arial"/>
              <a:buNone/>
            </a:pPr>
            <a:r>
              <a:rPr lang="en-US" sz="1750"/>
              <a:t>Calculate the transformation Matrix using </a:t>
            </a:r>
            <a:r>
              <a:rPr b="1" i="1" lang="en-US" sz="1750">
                <a:latin typeface="Helvetica Neue"/>
                <a:ea typeface="Helvetica Neue"/>
                <a:cs typeface="Helvetica Neue"/>
                <a:sym typeface="Helvetica Neue"/>
              </a:rPr>
              <a:t>cv2.getPerspectiveTransform</a:t>
            </a:r>
            <a:r>
              <a:rPr lang="en-US" sz="1750"/>
              <a:t>.</a:t>
            </a:r>
            <a:endParaRPr sz="1750"/>
          </a:p>
          <a:p>
            <a:pPr indent="457200" lvl="0" marL="0" rtl="0" algn="ctr">
              <a:spcBef>
                <a:spcPts val="1000"/>
              </a:spcBef>
              <a:spcAft>
                <a:spcPts val="0"/>
              </a:spcAft>
              <a:buNone/>
            </a:pPr>
            <a:r>
              <a:t/>
            </a:r>
            <a:endParaRPr sz="1750"/>
          </a:p>
          <a:p>
            <a:pPr indent="457200" lvl="0" marL="0" rtl="0" algn="ctr">
              <a:spcBef>
                <a:spcPts val="1000"/>
              </a:spcBef>
              <a:spcAft>
                <a:spcPts val="0"/>
              </a:spcAft>
              <a:buClr>
                <a:schemeClr val="dk1"/>
              </a:buClr>
              <a:buSzPts val="1100"/>
              <a:buFont typeface="Arial"/>
              <a:buNone/>
            </a:pPr>
            <a:r>
              <a:rPr lang="en-US" sz="1750"/>
              <a:t>Apply the transformation using </a:t>
            </a:r>
            <a:r>
              <a:rPr b="1" i="1" lang="en-US" sz="1750">
                <a:latin typeface="Helvetica Neue"/>
                <a:ea typeface="Helvetica Neue"/>
                <a:cs typeface="Helvetica Neue"/>
                <a:sym typeface="Helvetica Neue"/>
              </a:rPr>
              <a:t>cv</a:t>
            </a:r>
            <a:r>
              <a:rPr b="1" i="1" lang="en-US" sz="1750">
                <a:latin typeface="Helvetica Neue"/>
                <a:ea typeface="Helvetica Neue"/>
                <a:cs typeface="Helvetica Neue"/>
                <a:sym typeface="Helvetica Neue"/>
              </a:rPr>
              <a:t>2.warpPerspective</a:t>
            </a:r>
            <a:r>
              <a:rPr lang="en-US" sz="1750"/>
              <a:t> to get the "bird's-eye view."</a:t>
            </a:r>
            <a:endParaRPr sz="1700"/>
          </a:p>
        </p:txBody>
      </p:sp>
      <p:sp>
        <p:nvSpPr>
          <p:cNvPr id="168" name="Google Shape;168;g3a44f31a70d_0_31"/>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cxnSp>
        <p:nvCxnSpPr>
          <p:cNvPr id="169" name="Google Shape;169;g3a44f31a70d_0_31"/>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cxnSp>
        <p:nvCxnSpPr>
          <p:cNvPr id="170" name="Google Shape;170;g3a44f31a70d_0_31"/>
          <p:cNvCxnSpPr/>
          <p:nvPr/>
        </p:nvCxnSpPr>
        <p:spPr>
          <a:xfrm>
            <a:off x="612350" y="2269300"/>
            <a:ext cx="0" cy="3291300"/>
          </a:xfrm>
          <a:prstGeom prst="straightConnector1">
            <a:avLst/>
          </a:prstGeom>
          <a:noFill/>
          <a:ln cap="flat" cmpd="sng" w="28575">
            <a:solidFill>
              <a:schemeClr val="dk2"/>
            </a:solidFill>
            <a:prstDash val="solid"/>
            <a:round/>
            <a:headEnd len="med" w="med" type="none"/>
            <a:tailEnd len="med" w="med" type="none"/>
          </a:ln>
        </p:spPr>
      </p:cxnSp>
      <p:cxnSp>
        <p:nvCxnSpPr>
          <p:cNvPr id="171" name="Google Shape;171;g3a44f31a70d_0_31"/>
          <p:cNvCxnSpPr/>
          <p:nvPr/>
        </p:nvCxnSpPr>
        <p:spPr>
          <a:xfrm>
            <a:off x="614600" y="2715725"/>
            <a:ext cx="1336500" cy="0"/>
          </a:xfrm>
          <a:prstGeom prst="straightConnector1">
            <a:avLst/>
          </a:prstGeom>
          <a:noFill/>
          <a:ln cap="flat" cmpd="sng" w="28575">
            <a:solidFill>
              <a:schemeClr val="dk2"/>
            </a:solidFill>
            <a:prstDash val="solid"/>
            <a:round/>
            <a:headEnd len="med" w="med" type="none"/>
            <a:tailEnd len="med" w="med" type="triangle"/>
          </a:ln>
        </p:spPr>
      </p:cxnSp>
      <p:cxnSp>
        <p:nvCxnSpPr>
          <p:cNvPr id="172" name="Google Shape;172;g3a44f31a70d_0_31"/>
          <p:cNvCxnSpPr/>
          <p:nvPr/>
        </p:nvCxnSpPr>
        <p:spPr>
          <a:xfrm>
            <a:off x="614600" y="3523238"/>
            <a:ext cx="1199100" cy="2400"/>
          </a:xfrm>
          <a:prstGeom prst="straightConnector1">
            <a:avLst/>
          </a:prstGeom>
          <a:noFill/>
          <a:ln cap="flat" cmpd="sng" w="28575">
            <a:solidFill>
              <a:schemeClr val="dk2"/>
            </a:solidFill>
            <a:prstDash val="solid"/>
            <a:round/>
            <a:headEnd len="med" w="med" type="none"/>
            <a:tailEnd len="med" w="med" type="triangle"/>
          </a:ln>
        </p:spPr>
      </p:cxnSp>
      <p:cxnSp>
        <p:nvCxnSpPr>
          <p:cNvPr id="173" name="Google Shape;173;g3a44f31a70d_0_31"/>
          <p:cNvCxnSpPr/>
          <p:nvPr/>
        </p:nvCxnSpPr>
        <p:spPr>
          <a:xfrm flipH="1" rot="10800000">
            <a:off x="614600" y="4333150"/>
            <a:ext cx="1024200" cy="15000"/>
          </a:xfrm>
          <a:prstGeom prst="straightConnector1">
            <a:avLst/>
          </a:prstGeom>
          <a:noFill/>
          <a:ln cap="flat" cmpd="sng" w="28575">
            <a:solidFill>
              <a:schemeClr val="dk2"/>
            </a:solidFill>
            <a:prstDash val="solid"/>
            <a:round/>
            <a:headEnd len="med" w="med" type="none"/>
            <a:tailEnd len="med" w="med" type="triangle"/>
          </a:ln>
        </p:spPr>
      </p:cxnSp>
      <p:cxnSp>
        <p:nvCxnSpPr>
          <p:cNvPr id="174" name="Google Shape;174;g3a44f31a70d_0_31"/>
          <p:cNvCxnSpPr/>
          <p:nvPr/>
        </p:nvCxnSpPr>
        <p:spPr>
          <a:xfrm flipH="1" rot="10800000">
            <a:off x="614600" y="5259200"/>
            <a:ext cx="724500" cy="12300"/>
          </a:xfrm>
          <a:prstGeom prst="straightConnector1">
            <a:avLst/>
          </a:prstGeom>
          <a:noFill/>
          <a:ln cap="flat" cmpd="sng" w="28575">
            <a:solidFill>
              <a:schemeClr val="dk2"/>
            </a:solidFill>
            <a:prstDash val="solid"/>
            <a:round/>
            <a:headEnd len="med" w="med" type="none"/>
            <a:tailEnd len="med" w="med" type="triangle"/>
          </a:ln>
        </p:spPr>
      </p:cxnSp>
      <p:pic>
        <p:nvPicPr>
          <p:cNvPr id="175" name="Google Shape;175;g3a44f31a70d_0_31"/>
          <p:cNvPicPr preferRelativeResize="0"/>
          <p:nvPr/>
        </p:nvPicPr>
        <p:blipFill>
          <a:blip r:embed="rId3">
            <a:alphaModFix/>
          </a:blip>
          <a:stretch>
            <a:fillRect/>
          </a:stretch>
        </p:blipFill>
        <p:spPr>
          <a:xfrm>
            <a:off x="8832850" y="1591450"/>
            <a:ext cx="2950250" cy="4094775"/>
          </a:xfrm>
          <a:prstGeom prst="rect">
            <a:avLst/>
          </a:prstGeom>
          <a:noFill/>
          <a:ln cap="flat" cmpd="sng" w="76200">
            <a:solidFill>
              <a:srgbClr val="801B19"/>
            </a:solidFill>
            <a:prstDash val="solid"/>
            <a:round/>
            <a:headEnd len="sm" w="sm" type="none"/>
            <a:tailEnd len="sm" w="sm" type="none"/>
          </a:ln>
        </p:spPr>
      </p:pic>
      <p:pic>
        <p:nvPicPr>
          <p:cNvPr id="176" name="Google Shape;176;g3a44f31a70d_0_31"/>
          <p:cNvPicPr preferRelativeResize="0"/>
          <p:nvPr/>
        </p:nvPicPr>
        <p:blipFill>
          <a:blip r:embed="rId4">
            <a:alphaModFix/>
          </a:blip>
          <a:stretch>
            <a:fillRect/>
          </a:stretch>
        </p:blipFill>
        <p:spPr>
          <a:xfrm>
            <a:off x="5636225" y="1591450"/>
            <a:ext cx="3123025" cy="4094775"/>
          </a:xfrm>
          <a:prstGeom prst="rect">
            <a:avLst/>
          </a:prstGeom>
          <a:noFill/>
          <a:ln cap="flat" cmpd="sng" w="76200">
            <a:solidFill>
              <a:schemeClr val="dk2"/>
            </a:solidFill>
            <a:prstDash val="solid"/>
            <a:round/>
            <a:headEnd len="sm" w="sm" type="none"/>
            <a:tailEnd len="sm" w="sm" type="none"/>
          </a:ln>
        </p:spPr>
      </p:pic>
      <p:sp>
        <p:nvSpPr>
          <p:cNvPr id="177" name="Google Shape;177;g3a44f31a70d_0_31"/>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a44f31a70d_0_41"/>
          <p:cNvSpPr txBox="1"/>
          <p:nvPr>
            <p:ph type="title"/>
          </p:nvPr>
        </p:nvSpPr>
        <p:spPr>
          <a:xfrm>
            <a:off x="594303" y="266700"/>
            <a:ext cx="105156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Step 4: Final Enhancement</a:t>
            </a:r>
            <a:endParaRPr/>
          </a:p>
        </p:txBody>
      </p:sp>
      <p:sp>
        <p:nvSpPr>
          <p:cNvPr id="184" name="Google Shape;184;g3a44f31a70d_0_41"/>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cxnSp>
        <p:nvCxnSpPr>
          <p:cNvPr id="185" name="Google Shape;185;g3a44f31a70d_0_41"/>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pic>
        <p:nvPicPr>
          <p:cNvPr id="186" name="Google Shape;186;g3a44f31a70d_0_41"/>
          <p:cNvPicPr preferRelativeResize="0"/>
          <p:nvPr/>
        </p:nvPicPr>
        <p:blipFill>
          <a:blip r:embed="rId3">
            <a:alphaModFix/>
          </a:blip>
          <a:stretch>
            <a:fillRect/>
          </a:stretch>
        </p:blipFill>
        <p:spPr>
          <a:xfrm>
            <a:off x="8971150" y="1666400"/>
            <a:ext cx="2877725" cy="4278975"/>
          </a:xfrm>
          <a:prstGeom prst="rect">
            <a:avLst/>
          </a:prstGeom>
          <a:noFill/>
          <a:ln cap="flat" cmpd="sng" w="76200">
            <a:solidFill>
              <a:schemeClr val="dk2"/>
            </a:solidFill>
            <a:prstDash val="solid"/>
            <a:round/>
            <a:headEnd len="sm" w="sm" type="none"/>
            <a:tailEnd len="sm" w="sm" type="none"/>
          </a:ln>
        </p:spPr>
      </p:pic>
      <p:sp>
        <p:nvSpPr>
          <p:cNvPr id="187" name="Google Shape;187;g3a44f31a70d_0_41"/>
          <p:cNvSpPr txBox="1"/>
          <p:nvPr>
            <p:ph idx="1" type="body"/>
          </p:nvPr>
        </p:nvSpPr>
        <p:spPr>
          <a:xfrm>
            <a:off x="582425" y="1591450"/>
            <a:ext cx="5053800" cy="4528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sz="2200"/>
              <a:t>Goal: To make the flat image look like a high-contrast scanned document.</a:t>
            </a:r>
            <a:endParaRPr sz="2200"/>
          </a:p>
          <a:p>
            <a:pPr indent="0" lvl="0" marL="0" rtl="0" algn="l">
              <a:spcBef>
                <a:spcPts val="1000"/>
              </a:spcBef>
              <a:spcAft>
                <a:spcPts val="0"/>
              </a:spcAft>
              <a:buNone/>
            </a:pPr>
            <a:r>
              <a:t/>
            </a:r>
            <a:endParaRPr sz="2200"/>
          </a:p>
          <a:p>
            <a:pPr indent="0" lvl="0" marL="0" rtl="0" algn="ctr">
              <a:spcBef>
                <a:spcPts val="1000"/>
              </a:spcBef>
              <a:spcAft>
                <a:spcPts val="0"/>
              </a:spcAft>
              <a:buNone/>
            </a:pPr>
            <a:r>
              <a:rPr lang="en-US" sz="1750"/>
              <a:t>		Apply Adaptive Thresholding </a:t>
            </a:r>
            <a:r>
              <a:rPr b="1" i="1" lang="en-US" sz="1750">
                <a:latin typeface="Helvetica Neue"/>
                <a:ea typeface="Helvetica Neue"/>
                <a:cs typeface="Helvetica Neue"/>
                <a:sym typeface="Helvetica Neue"/>
              </a:rPr>
              <a:t>cv2.ADAPTIVE_THRESH_GAUSSIAN_C </a:t>
            </a:r>
            <a:r>
              <a:rPr lang="en-US" sz="1750"/>
              <a:t>to turn the image into pure black-and-white, handling lighting variations.</a:t>
            </a:r>
            <a:endParaRPr sz="1750"/>
          </a:p>
          <a:p>
            <a:pPr indent="0" lvl="0" marL="0" rtl="0" algn="l">
              <a:spcBef>
                <a:spcPts val="1000"/>
              </a:spcBef>
              <a:spcAft>
                <a:spcPts val="0"/>
              </a:spcAft>
              <a:buClr>
                <a:schemeClr val="dk1"/>
              </a:buClr>
              <a:buSzPts val="1100"/>
              <a:buFont typeface="Arial"/>
              <a:buNone/>
            </a:pPr>
            <a:r>
              <a:t/>
            </a:r>
            <a:endParaRPr sz="1750"/>
          </a:p>
          <a:p>
            <a:pPr indent="0" lvl="0" marL="914400" rtl="0" algn="ctr">
              <a:spcBef>
                <a:spcPts val="1000"/>
              </a:spcBef>
              <a:spcAft>
                <a:spcPts val="0"/>
              </a:spcAft>
              <a:buClr>
                <a:schemeClr val="dk1"/>
              </a:buClr>
              <a:buSzPts val="1100"/>
              <a:buFont typeface="Arial"/>
              <a:buNone/>
            </a:pPr>
            <a:r>
              <a:rPr lang="en-US" sz="1750"/>
              <a:t>This step achieves Improved Contrast and Reduced Background Noise.</a:t>
            </a:r>
            <a:endParaRPr sz="1750"/>
          </a:p>
          <a:p>
            <a:pPr indent="0" lvl="0" marL="0" rtl="0" algn="l">
              <a:spcBef>
                <a:spcPts val="1000"/>
              </a:spcBef>
              <a:spcAft>
                <a:spcPts val="0"/>
              </a:spcAft>
              <a:buClr>
                <a:schemeClr val="dk1"/>
              </a:buClr>
              <a:buSzPts val="1100"/>
              <a:buFont typeface="Arial"/>
              <a:buNone/>
            </a:pPr>
            <a:r>
              <a:t/>
            </a:r>
            <a:endParaRPr sz="1750"/>
          </a:p>
          <a:p>
            <a:pPr indent="0" lvl="0" marL="0" rtl="0" algn="l">
              <a:spcBef>
                <a:spcPts val="1000"/>
              </a:spcBef>
              <a:spcAft>
                <a:spcPts val="0"/>
              </a:spcAft>
              <a:buNone/>
            </a:pPr>
            <a:r>
              <a:t/>
            </a:r>
            <a:endParaRPr sz="1750"/>
          </a:p>
        </p:txBody>
      </p:sp>
      <p:cxnSp>
        <p:nvCxnSpPr>
          <p:cNvPr id="188" name="Google Shape;188;g3a44f31a70d_0_41"/>
          <p:cNvCxnSpPr/>
          <p:nvPr/>
        </p:nvCxnSpPr>
        <p:spPr>
          <a:xfrm>
            <a:off x="589625" y="2562850"/>
            <a:ext cx="0" cy="3026100"/>
          </a:xfrm>
          <a:prstGeom prst="straightConnector1">
            <a:avLst/>
          </a:prstGeom>
          <a:noFill/>
          <a:ln cap="flat" cmpd="sng" w="28575">
            <a:solidFill>
              <a:schemeClr val="dk2"/>
            </a:solidFill>
            <a:prstDash val="solid"/>
            <a:round/>
            <a:headEnd len="med" w="med" type="none"/>
            <a:tailEnd len="med" w="med" type="none"/>
          </a:ln>
        </p:spPr>
      </p:cxnSp>
      <p:cxnSp>
        <p:nvCxnSpPr>
          <p:cNvPr id="189" name="Google Shape;189;g3a44f31a70d_0_41"/>
          <p:cNvCxnSpPr/>
          <p:nvPr/>
        </p:nvCxnSpPr>
        <p:spPr>
          <a:xfrm>
            <a:off x="602100" y="2865625"/>
            <a:ext cx="1324200" cy="0"/>
          </a:xfrm>
          <a:prstGeom prst="straightConnector1">
            <a:avLst/>
          </a:prstGeom>
          <a:noFill/>
          <a:ln cap="flat" cmpd="sng" w="28575">
            <a:solidFill>
              <a:schemeClr val="dk2"/>
            </a:solidFill>
            <a:prstDash val="solid"/>
            <a:round/>
            <a:headEnd len="med" w="med" type="none"/>
            <a:tailEnd len="med" w="med" type="triangle"/>
          </a:ln>
        </p:spPr>
      </p:cxnSp>
      <p:cxnSp>
        <p:nvCxnSpPr>
          <p:cNvPr id="190" name="Google Shape;190;g3a44f31a70d_0_41"/>
          <p:cNvCxnSpPr/>
          <p:nvPr/>
        </p:nvCxnSpPr>
        <p:spPr>
          <a:xfrm flipH="1" rot="10800000">
            <a:off x="582425" y="4368738"/>
            <a:ext cx="662100" cy="3900"/>
          </a:xfrm>
          <a:prstGeom prst="straightConnector1">
            <a:avLst/>
          </a:prstGeom>
          <a:noFill/>
          <a:ln cap="flat" cmpd="sng" w="28575">
            <a:solidFill>
              <a:schemeClr val="dk2"/>
            </a:solidFill>
            <a:prstDash val="solid"/>
            <a:round/>
            <a:headEnd len="med" w="med" type="none"/>
            <a:tailEnd len="med" w="med" type="triangle"/>
          </a:ln>
        </p:spPr>
      </p:cxnSp>
      <p:pic>
        <p:nvPicPr>
          <p:cNvPr id="191" name="Google Shape;191;g3a44f31a70d_0_41"/>
          <p:cNvPicPr preferRelativeResize="0"/>
          <p:nvPr/>
        </p:nvPicPr>
        <p:blipFill>
          <a:blip r:embed="rId4">
            <a:alphaModFix/>
          </a:blip>
          <a:stretch>
            <a:fillRect/>
          </a:stretch>
        </p:blipFill>
        <p:spPr>
          <a:xfrm>
            <a:off x="5723675" y="1666400"/>
            <a:ext cx="3135275" cy="4278969"/>
          </a:xfrm>
          <a:prstGeom prst="rect">
            <a:avLst/>
          </a:prstGeom>
          <a:noFill/>
          <a:ln cap="flat" cmpd="sng" w="76200">
            <a:solidFill>
              <a:schemeClr val="dk2"/>
            </a:solidFill>
            <a:prstDash val="solid"/>
            <a:round/>
            <a:headEnd len="sm" w="sm" type="none"/>
            <a:tailEnd len="sm" w="sm" type="none"/>
          </a:ln>
        </p:spPr>
      </p:pic>
      <p:sp>
        <p:nvSpPr>
          <p:cNvPr id="192" name="Google Shape;192;g3a44f31a70d_0_41"/>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85df597807_4_9"/>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4000"/>
              <a:buNone/>
            </a:pPr>
            <a:r>
              <a:rPr lang="en-US"/>
              <a:t>Result Gallery</a:t>
            </a:r>
            <a:endParaRPr/>
          </a:p>
        </p:txBody>
      </p:sp>
      <p:sp>
        <p:nvSpPr>
          <p:cNvPr id="199" name="Google Shape;199;g385df597807_4_9"/>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cxnSp>
        <p:nvCxnSpPr>
          <p:cNvPr id="200" name="Google Shape;200;g385df597807_4_9"/>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pic>
        <p:nvPicPr>
          <p:cNvPr id="201" name="Google Shape;201;g385df597807_4_9"/>
          <p:cNvPicPr preferRelativeResize="0"/>
          <p:nvPr/>
        </p:nvPicPr>
        <p:blipFill>
          <a:blip r:embed="rId3">
            <a:alphaModFix/>
          </a:blip>
          <a:stretch>
            <a:fillRect/>
          </a:stretch>
        </p:blipFill>
        <p:spPr>
          <a:xfrm>
            <a:off x="192100" y="3014075"/>
            <a:ext cx="2261025" cy="2903503"/>
          </a:xfrm>
          <a:prstGeom prst="rect">
            <a:avLst/>
          </a:prstGeom>
          <a:noFill/>
          <a:ln cap="flat" cmpd="sng" w="76200">
            <a:solidFill>
              <a:schemeClr val="dk2"/>
            </a:solidFill>
            <a:prstDash val="solid"/>
            <a:round/>
            <a:headEnd len="sm" w="sm" type="none"/>
            <a:tailEnd len="sm" w="sm" type="none"/>
          </a:ln>
        </p:spPr>
      </p:pic>
      <p:pic>
        <p:nvPicPr>
          <p:cNvPr id="202" name="Google Shape;202;g385df597807_4_9"/>
          <p:cNvPicPr preferRelativeResize="0"/>
          <p:nvPr/>
        </p:nvPicPr>
        <p:blipFill>
          <a:blip r:embed="rId4">
            <a:alphaModFix/>
          </a:blip>
          <a:stretch>
            <a:fillRect/>
          </a:stretch>
        </p:blipFill>
        <p:spPr>
          <a:xfrm>
            <a:off x="2713675" y="1914775"/>
            <a:ext cx="2261025" cy="2903503"/>
          </a:xfrm>
          <a:prstGeom prst="rect">
            <a:avLst/>
          </a:prstGeom>
          <a:noFill/>
          <a:ln cap="flat" cmpd="sng" w="76200">
            <a:solidFill>
              <a:schemeClr val="dk2"/>
            </a:solidFill>
            <a:prstDash val="solid"/>
            <a:round/>
            <a:headEnd len="sm" w="sm" type="none"/>
            <a:tailEnd len="sm" w="sm" type="none"/>
          </a:ln>
        </p:spPr>
      </p:pic>
      <p:pic>
        <p:nvPicPr>
          <p:cNvPr id="203" name="Google Shape;203;g385df597807_4_9"/>
          <p:cNvPicPr preferRelativeResize="0"/>
          <p:nvPr/>
        </p:nvPicPr>
        <p:blipFill>
          <a:blip r:embed="rId5">
            <a:alphaModFix/>
          </a:blip>
          <a:stretch>
            <a:fillRect/>
          </a:stretch>
        </p:blipFill>
        <p:spPr>
          <a:xfrm>
            <a:off x="5448900" y="2989850"/>
            <a:ext cx="2447333" cy="2951950"/>
          </a:xfrm>
          <a:prstGeom prst="rect">
            <a:avLst/>
          </a:prstGeom>
          <a:noFill/>
          <a:ln cap="flat" cmpd="sng" w="76200">
            <a:solidFill>
              <a:schemeClr val="dk2"/>
            </a:solidFill>
            <a:prstDash val="solid"/>
            <a:round/>
            <a:headEnd len="sm" w="sm" type="none"/>
            <a:tailEnd len="sm" w="sm" type="none"/>
          </a:ln>
        </p:spPr>
      </p:pic>
      <p:pic>
        <p:nvPicPr>
          <p:cNvPr id="204" name="Google Shape;204;g385df597807_4_9"/>
          <p:cNvPicPr preferRelativeResize="0"/>
          <p:nvPr/>
        </p:nvPicPr>
        <p:blipFill>
          <a:blip r:embed="rId6">
            <a:alphaModFix/>
          </a:blip>
          <a:stretch>
            <a:fillRect/>
          </a:stretch>
        </p:blipFill>
        <p:spPr>
          <a:xfrm>
            <a:off x="8342938" y="1866316"/>
            <a:ext cx="2627352" cy="1760596"/>
          </a:xfrm>
          <a:prstGeom prst="rect">
            <a:avLst/>
          </a:prstGeom>
          <a:noFill/>
          <a:ln cap="flat" cmpd="sng" w="76200">
            <a:solidFill>
              <a:schemeClr val="dk2"/>
            </a:solidFill>
            <a:prstDash val="solid"/>
            <a:round/>
            <a:headEnd len="sm" w="sm" type="none"/>
            <a:tailEnd len="sm" w="sm" type="none"/>
          </a:ln>
        </p:spPr>
      </p:pic>
      <p:pic>
        <p:nvPicPr>
          <p:cNvPr id="205" name="Google Shape;205;g385df597807_4_9"/>
          <p:cNvPicPr preferRelativeResize="0"/>
          <p:nvPr/>
        </p:nvPicPr>
        <p:blipFill>
          <a:blip r:embed="rId7">
            <a:alphaModFix/>
          </a:blip>
          <a:stretch>
            <a:fillRect/>
          </a:stretch>
        </p:blipFill>
        <p:spPr>
          <a:xfrm>
            <a:off x="9143463" y="4458504"/>
            <a:ext cx="2634309" cy="1760597"/>
          </a:xfrm>
          <a:prstGeom prst="rect">
            <a:avLst/>
          </a:prstGeom>
          <a:noFill/>
          <a:ln cap="flat" cmpd="sng" w="76200">
            <a:solidFill>
              <a:schemeClr val="dk2"/>
            </a:solidFill>
            <a:prstDash val="solid"/>
            <a:round/>
            <a:headEnd len="sm" w="sm" type="none"/>
            <a:tailEnd len="sm" w="sm" type="none"/>
          </a:ln>
        </p:spPr>
      </p:pic>
      <p:cxnSp>
        <p:nvCxnSpPr>
          <p:cNvPr id="206" name="Google Shape;206;g385df597807_4_9"/>
          <p:cNvCxnSpPr/>
          <p:nvPr/>
        </p:nvCxnSpPr>
        <p:spPr>
          <a:xfrm flipH="1" rot="10800000">
            <a:off x="1326625" y="1866325"/>
            <a:ext cx="1349100" cy="1136700"/>
          </a:xfrm>
          <a:prstGeom prst="curvedConnector3">
            <a:avLst>
              <a:gd fmla="val 50000" name="adj1"/>
            </a:avLst>
          </a:prstGeom>
          <a:noFill/>
          <a:ln cap="flat" cmpd="sng" w="38100">
            <a:solidFill>
              <a:schemeClr val="dk2"/>
            </a:solidFill>
            <a:prstDash val="solid"/>
            <a:round/>
            <a:headEnd len="med" w="med" type="none"/>
            <a:tailEnd len="med" w="med" type="none"/>
          </a:ln>
        </p:spPr>
      </p:cxnSp>
      <p:cxnSp>
        <p:nvCxnSpPr>
          <p:cNvPr id="207" name="Google Shape;207;g385df597807_4_9"/>
          <p:cNvCxnSpPr/>
          <p:nvPr/>
        </p:nvCxnSpPr>
        <p:spPr>
          <a:xfrm flipH="1" rot="10800000">
            <a:off x="5005700" y="3626925"/>
            <a:ext cx="412200" cy="12300"/>
          </a:xfrm>
          <a:prstGeom prst="straightConnector1">
            <a:avLst/>
          </a:prstGeom>
          <a:noFill/>
          <a:ln cap="flat" cmpd="sng" w="38100">
            <a:solidFill>
              <a:schemeClr val="dk2"/>
            </a:solidFill>
            <a:prstDash val="solid"/>
            <a:round/>
            <a:headEnd len="med" w="med" type="none"/>
            <a:tailEnd len="med" w="med" type="none"/>
          </a:ln>
        </p:spPr>
      </p:cxnSp>
      <p:cxnSp>
        <p:nvCxnSpPr>
          <p:cNvPr id="208" name="Google Shape;208;g385df597807_4_9"/>
          <p:cNvCxnSpPr/>
          <p:nvPr/>
        </p:nvCxnSpPr>
        <p:spPr>
          <a:xfrm flipH="1" rot="10800000">
            <a:off x="7896225" y="3167225"/>
            <a:ext cx="412200" cy="12300"/>
          </a:xfrm>
          <a:prstGeom prst="straightConnector1">
            <a:avLst/>
          </a:prstGeom>
          <a:noFill/>
          <a:ln cap="flat" cmpd="sng" w="38100">
            <a:solidFill>
              <a:schemeClr val="dk2"/>
            </a:solidFill>
            <a:prstDash val="solid"/>
            <a:round/>
            <a:headEnd len="med" w="med" type="none"/>
            <a:tailEnd len="med" w="med" type="none"/>
          </a:ln>
        </p:spPr>
      </p:cxnSp>
      <p:cxnSp>
        <p:nvCxnSpPr>
          <p:cNvPr id="209" name="Google Shape;209;g385df597807_4_9"/>
          <p:cNvCxnSpPr>
            <a:stCxn id="204" idx="3"/>
          </p:cNvCxnSpPr>
          <p:nvPr/>
        </p:nvCxnSpPr>
        <p:spPr>
          <a:xfrm>
            <a:off x="10970289" y="2746614"/>
            <a:ext cx="699600" cy="1680600"/>
          </a:xfrm>
          <a:prstGeom prst="curvedConnector2">
            <a:avLst/>
          </a:prstGeom>
          <a:noFill/>
          <a:ln cap="flat" cmpd="sng" w="38100">
            <a:solidFill>
              <a:schemeClr val="dk2"/>
            </a:solidFill>
            <a:prstDash val="solid"/>
            <a:round/>
            <a:headEnd len="med" w="med" type="none"/>
            <a:tailEnd len="med" w="med" type="none"/>
          </a:ln>
        </p:spPr>
      </p:cxnSp>
      <p:sp>
        <p:nvSpPr>
          <p:cNvPr id="210" name="Google Shape;210;g385df597807_4_9"/>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85df597807_4_16"/>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4000"/>
              <a:buNone/>
            </a:pPr>
            <a:r>
              <a:rPr lang="en-US"/>
              <a:t>Result Gallery</a:t>
            </a:r>
            <a:endParaRPr/>
          </a:p>
        </p:txBody>
      </p:sp>
      <p:sp>
        <p:nvSpPr>
          <p:cNvPr id="217" name="Google Shape;217;g385df597807_4_16"/>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cxnSp>
        <p:nvCxnSpPr>
          <p:cNvPr id="218" name="Google Shape;218;g385df597807_4_16"/>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sp>
        <p:nvSpPr>
          <p:cNvPr id="219" name="Google Shape;219;g385df597807_4_16"/>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cxnSp>
        <p:nvCxnSpPr>
          <p:cNvPr id="220" name="Google Shape;220;g385df597807_4_16"/>
          <p:cNvCxnSpPr/>
          <p:nvPr/>
        </p:nvCxnSpPr>
        <p:spPr>
          <a:xfrm flipH="1" rot="10800000">
            <a:off x="1415050" y="1866250"/>
            <a:ext cx="1260600" cy="1072500"/>
          </a:xfrm>
          <a:prstGeom prst="curvedConnector3">
            <a:avLst>
              <a:gd fmla="val 50000" name="adj1"/>
            </a:avLst>
          </a:prstGeom>
          <a:noFill/>
          <a:ln cap="flat" cmpd="sng" w="38100">
            <a:solidFill>
              <a:schemeClr val="dk2"/>
            </a:solidFill>
            <a:prstDash val="solid"/>
            <a:round/>
            <a:headEnd len="med" w="med" type="none"/>
            <a:tailEnd len="med" w="med" type="none"/>
          </a:ln>
        </p:spPr>
      </p:cxnSp>
      <p:pic>
        <p:nvPicPr>
          <p:cNvPr id="221" name="Google Shape;221;g385df597807_4_16"/>
          <p:cNvPicPr preferRelativeResize="0"/>
          <p:nvPr/>
        </p:nvPicPr>
        <p:blipFill>
          <a:blip r:embed="rId3">
            <a:alphaModFix/>
          </a:blip>
          <a:stretch>
            <a:fillRect/>
          </a:stretch>
        </p:blipFill>
        <p:spPr>
          <a:xfrm>
            <a:off x="108650" y="2938750"/>
            <a:ext cx="2195125" cy="2818877"/>
          </a:xfrm>
          <a:prstGeom prst="rect">
            <a:avLst/>
          </a:prstGeom>
          <a:noFill/>
          <a:ln cap="flat" cmpd="sng" w="76200">
            <a:solidFill>
              <a:schemeClr val="dk2"/>
            </a:solidFill>
            <a:prstDash val="solid"/>
            <a:round/>
            <a:headEnd len="sm" w="sm" type="none"/>
            <a:tailEnd len="sm" w="sm" type="none"/>
          </a:ln>
        </p:spPr>
      </p:pic>
      <p:pic>
        <p:nvPicPr>
          <p:cNvPr id="222" name="Google Shape;222;g385df597807_4_16"/>
          <p:cNvPicPr preferRelativeResize="0"/>
          <p:nvPr/>
        </p:nvPicPr>
        <p:blipFill rotWithShape="1">
          <a:blip r:embed="rId4">
            <a:alphaModFix/>
          </a:blip>
          <a:srcRect b="0" l="0" r="0" t="6349"/>
          <a:stretch/>
        </p:blipFill>
        <p:spPr>
          <a:xfrm>
            <a:off x="2542875" y="1712325"/>
            <a:ext cx="2086397" cy="2690600"/>
          </a:xfrm>
          <a:prstGeom prst="rect">
            <a:avLst/>
          </a:prstGeom>
          <a:noFill/>
          <a:ln cap="flat" cmpd="sng" w="76200">
            <a:solidFill>
              <a:schemeClr val="dk2"/>
            </a:solidFill>
            <a:prstDash val="solid"/>
            <a:round/>
            <a:headEnd len="sm" w="sm" type="none"/>
            <a:tailEnd len="sm" w="sm" type="none"/>
          </a:ln>
        </p:spPr>
      </p:pic>
      <p:pic>
        <p:nvPicPr>
          <p:cNvPr id="223" name="Google Shape;223;g385df597807_4_16"/>
          <p:cNvPicPr preferRelativeResize="0"/>
          <p:nvPr/>
        </p:nvPicPr>
        <p:blipFill rotWithShape="1">
          <a:blip r:embed="rId5">
            <a:alphaModFix/>
          </a:blip>
          <a:srcRect b="0" l="0" r="0" t="6349"/>
          <a:stretch/>
        </p:blipFill>
        <p:spPr>
          <a:xfrm>
            <a:off x="4868375" y="2938762"/>
            <a:ext cx="2447325" cy="3156051"/>
          </a:xfrm>
          <a:prstGeom prst="rect">
            <a:avLst/>
          </a:prstGeom>
          <a:noFill/>
          <a:ln cap="flat" cmpd="sng" w="76200">
            <a:solidFill>
              <a:schemeClr val="dk2"/>
            </a:solidFill>
            <a:prstDash val="solid"/>
            <a:round/>
            <a:headEnd len="sm" w="sm" type="none"/>
            <a:tailEnd len="sm" w="sm" type="none"/>
          </a:ln>
        </p:spPr>
      </p:pic>
      <p:pic>
        <p:nvPicPr>
          <p:cNvPr id="224" name="Google Shape;224;g385df597807_4_16"/>
          <p:cNvPicPr preferRelativeResize="0"/>
          <p:nvPr/>
        </p:nvPicPr>
        <p:blipFill rotWithShape="1">
          <a:blip r:embed="rId6">
            <a:alphaModFix/>
          </a:blip>
          <a:srcRect b="0" l="0" r="0" t="6252"/>
          <a:stretch/>
        </p:blipFill>
        <p:spPr>
          <a:xfrm>
            <a:off x="7554801" y="1681500"/>
            <a:ext cx="2086400" cy="2752249"/>
          </a:xfrm>
          <a:prstGeom prst="rect">
            <a:avLst/>
          </a:prstGeom>
          <a:noFill/>
          <a:ln cap="flat" cmpd="sng" w="76200">
            <a:solidFill>
              <a:schemeClr val="dk2"/>
            </a:solidFill>
            <a:prstDash val="solid"/>
            <a:round/>
            <a:headEnd len="sm" w="sm" type="none"/>
            <a:tailEnd len="sm" w="sm" type="none"/>
          </a:ln>
        </p:spPr>
      </p:pic>
      <p:pic>
        <p:nvPicPr>
          <p:cNvPr id="225" name="Google Shape;225;g385df597807_4_16"/>
          <p:cNvPicPr preferRelativeResize="0"/>
          <p:nvPr/>
        </p:nvPicPr>
        <p:blipFill rotWithShape="1">
          <a:blip r:embed="rId7">
            <a:alphaModFix/>
          </a:blip>
          <a:srcRect b="0" l="0" r="0" t="5908"/>
          <a:stretch/>
        </p:blipFill>
        <p:spPr>
          <a:xfrm>
            <a:off x="9880300" y="2938750"/>
            <a:ext cx="2195125" cy="3156074"/>
          </a:xfrm>
          <a:prstGeom prst="rect">
            <a:avLst/>
          </a:prstGeom>
          <a:noFill/>
          <a:ln cap="flat" cmpd="sng" w="76200">
            <a:solidFill>
              <a:schemeClr val="dk2"/>
            </a:solidFill>
            <a:prstDash val="solid"/>
            <a:round/>
            <a:headEnd len="sm" w="sm" type="none"/>
            <a:tailEnd len="sm" w="sm" type="none"/>
          </a:ln>
        </p:spPr>
      </p:pic>
      <p:cxnSp>
        <p:nvCxnSpPr>
          <p:cNvPr id="226" name="Google Shape;226;g385df597807_4_16"/>
          <p:cNvCxnSpPr/>
          <p:nvPr/>
        </p:nvCxnSpPr>
        <p:spPr>
          <a:xfrm flipH="1" rot="-5400000">
            <a:off x="4505850" y="1772525"/>
            <a:ext cx="1224000" cy="961800"/>
          </a:xfrm>
          <a:prstGeom prst="curvedConnector3">
            <a:avLst>
              <a:gd fmla="val 50000" name="adj1"/>
            </a:avLst>
          </a:prstGeom>
          <a:noFill/>
          <a:ln cap="flat" cmpd="sng" w="38100">
            <a:solidFill>
              <a:schemeClr val="dk2"/>
            </a:solidFill>
            <a:prstDash val="solid"/>
            <a:round/>
            <a:headEnd len="med" w="med" type="none"/>
            <a:tailEnd len="med" w="med" type="none"/>
          </a:ln>
        </p:spPr>
      </p:cxnSp>
      <p:cxnSp>
        <p:nvCxnSpPr>
          <p:cNvPr id="227" name="Google Shape;227;g385df597807_4_16"/>
          <p:cNvCxnSpPr/>
          <p:nvPr/>
        </p:nvCxnSpPr>
        <p:spPr>
          <a:xfrm rot="-5400000">
            <a:off x="6423300" y="1878725"/>
            <a:ext cx="1249200" cy="874500"/>
          </a:xfrm>
          <a:prstGeom prst="curvedConnector3">
            <a:avLst>
              <a:gd fmla="val 50000" name="adj1"/>
            </a:avLst>
          </a:prstGeom>
          <a:noFill/>
          <a:ln cap="flat" cmpd="sng" w="38100">
            <a:solidFill>
              <a:schemeClr val="dk2"/>
            </a:solidFill>
            <a:prstDash val="solid"/>
            <a:round/>
            <a:headEnd len="med" w="med" type="none"/>
            <a:tailEnd len="med" w="med" type="none"/>
          </a:ln>
        </p:spPr>
      </p:cxnSp>
      <p:cxnSp>
        <p:nvCxnSpPr>
          <p:cNvPr id="228" name="Google Shape;228;g385df597807_4_16"/>
          <p:cNvCxnSpPr/>
          <p:nvPr/>
        </p:nvCxnSpPr>
        <p:spPr>
          <a:xfrm flipH="1" rot="-5400000">
            <a:off x="9689825" y="1872575"/>
            <a:ext cx="1011900" cy="999300"/>
          </a:xfrm>
          <a:prstGeom prst="curvedConnector3">
            <a:avLst>
              <a:gd fmla="val 50000" name="adj1"/>
            </a:avLst>
          </a:prstGeom>
          <a:noFill/>
          <a:ln cap="flat" cmpd="sng" w="38100">
            <a:solidFill>
              <a:schemeClr val="dk2"/>
            </a:solidFill>
            <a:prstDash val="solid"/>
            <a:round/>
            <a:headEnd len="med" w="med" type="none"/>
            <a:tailEnd len="med" w="med" type="none"/>
          </a:ln>
        </p:spPr>
      </p:cxnSp>
      <p:sp>
        <p:nvSpPr>
          <p:cNvPr id="229" name="Google Shape;229;g385df597807_4_16"/>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85df597807_4_26"/>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4000"/>
              <a:buNone/>
            </a:pPr>
            <a:r>
              <a:rPr lang="en-US"/>
              <a:t>Conclusion</a:t>
            </a:r>
            <a:endParaRPr/>
          </a:p>
        </p:txBody>
      </p:sp>
      <p:sp>
        <p:nvSpPr>
          <p:cNvPr id="236" name="Google Shape;236;g385df597807_4_26"/>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SzPts val="1100"/>
              <a:buNone/>
            </a:pPr>
            <a:r>
              <a:rPr b="1" lang="en-US" sz="2200">
                <a:latin typeface="Helvetica Neue"/>
                <a:ea typeface="Helvetica Neue"/>
                <a:cs typeface="Helvetica Neue"/>
                <a:sym typeface="Helvetica Neue"/>
              </a:rPr>
              <a:t>Summary</a:t>
            </a:r>
            <a:endParaRPr b="1" sz="2200">
              <a:latin typeface="Helvetica Neue"/>
              <a:ea typeface="Helvetica Neue"/>
              <a:cs typeface="Helvetica Neue"/>
              <a:sym typeface="Helvetica Neue"/>
            </a:endParaRPr>
          </a:p>
          <a:p>
            <a:pPr indent="0" lvl="0" marL="0" rtl="0" algn="l">
              <a:spcBef>
                <a:spcPts val="1000"/>
              </a:spcBef>
              <a:spcAft>
                <a:spcPts val="0"/>
              </a:spcAft>
              <a:buClr>
                <a:schemeClr val="dk1"/>
              </a:buClr>
              <a:buSzPts val="1100"/>
              <a:buFont typeface="Arial"/>
              <a:buNone/>
            </a:pPr>
            <a:r>
              <a:rPr lang="en-US" sz="2200"/>
              <a:t>Our methodology successfully combines classical computer vision techniques like Canny, Contours, Perspective Transforms and some others to convert photographed documents into clean, usable scans. We avoided the use of ML or LLM models in this project.</a:t>
            </a:r>
            <a:endParaRPr sz="2200"/>
          </a:p>
          <a:p>
            <a:pPr indent="0" lvl="0" marL="0" rtl="0" algn="l">
              <a:spcBef>
                <a:spcPts val="1000"/>
              </a:spcBef>
              <a:spcAft>
                <a:spcPts val="0"/>
              </a:spcAft>
              <a:buClr>
                <a:schemeClr val="dk1"/>
              </a:buClr>
              <a:buSzPts val="1100"/>
              <a:buFont typeface="Arial"/>
              <a:buNone/>
            </a:pPr>
            <a:r>
              <a:t/>
            </a:r>
            <a:endParaRPr sz="2200"/>
          </a:p>
          <a:p>
            <a:pPr indent="0" lvl="0" marL="0" rtl="0" algn="l">
              <a:spcBef>
                <a:spcPts val="1000"/>
              </a:spcBef>
              <a:spcAft>
                <a:spcPts val="0"/>
              </a:spcAft>
              <a:buSzPts val="1100"/>
              <a:buNone/>
            </a:pPr>
            <a:r>
              <a:rPr b="1" lang="en-US" sz="2200">
                <a:latin typeface="Helvetica Neue"/>
                <a:ea typeface="Helvetica Neue"/>
                <a:cs typeface="Helvetica Neue"/>
                <a:sym typeface="Helvetica Neue"/>
              </a:rPr>
              <a:t>Challenges </a:t>
            </a:r>
            <a:endParaRPr b="1" sz="2200">
              <a:latin typeface="Helvetica Neue"/>
              <a:ea typeface="Helvetica Neue"/>
              <a:cs typeface="Helvetica Neue"/>
              <a:sym typeface="Helvetica Neue"/>
            </a:endParaRPr>
          </a:p>
          <a:p>
            <a:pPr indent="-368300" lvl="0" marL="457200" rtl="0" algn="l">
              <a:spcBef>
                <a:spcPts val="1000"/>
              </a:spcBef>
              <a:spcAft>
                <a:spcPts val="0"/>
              </a:spcAft>
              <a:buSzPts val="2200"/>
              <a:buChar char="•"/>
            </a:pPr>
            <a:r>
              <a:rPr lang="en-US" sz="2200"/>
              <a:t>Fails if the background is too noisy.</a:t>
            </a:r>
            <a:endParaRPr sz="2200"/>
          </a:p>
          <a:p>
            <a:pPr indent="-368300" lvl="0" marL="457200" rtl="0" algn="l">
              <a:spcBef>
                <a:spcPts val="0"/>
              </a:spcBef>
              <a:spcAft>
                <a:spcPts val="0"/>
              </a:spcAft>
              <a:buSzPts val="2200"/>
              <a:buChar char="•"/>
            </a:pPr>
            <a:r>
              <a:rPr lang="en-US" sz="2200"/>
              <a:t>Small text relative to the Image may appear as a cluster. </a:t>
            </a:r>
            <a:endParaRPr sz="2200"/>
          </a:p>
          <a:p>
            <a:pPr indent="-368300" lvl="0" marL="457200" rtl="0" algn="l">
              <a:spcBef>
                <a:spcPts val="0"/>
              </a:spcBef>
              <a:spcAft>
                <a:spcPts val="0"/>
              </a:spcAft>
              <a:buSzPts val="2200"/>
              <a:buChar char="•"/>
            </a:pPr>
            <a:r>
              <a:rPr lang="en-US" sz="2200"/>
              <a:t>Handwritten documents might be difficult for contour detection.</a:t>
            </a:r>
            <a:endParaRPr sz="2200"/>
          </a:p>
          <a:p>
            <a:pPr indent="-368300" lvl="0" marL="457200" rtl="0" algn="l">
              <a:spcBef>
                <a:spcPts val="0"/>
              </a:spcBef>
              <a:spcAft>
                <a:spcPts val="0"/>
              </a:spcAft>
              <a:buSzPts val="2200"/>
              <a:buChar char="•"/>
            </a:pPr>
            <a:r>
              <a:rPr lang="en-US" sz="2200"/>
              <a:t>Requires the document to be the largest object (around 70 - 80%).</a:t>
            </a:r>
            <a:endParaRPr sz="2200"/>
          </a:p>
          <a:p>
            <a:pPr indent="0" lvl="0" marL="0" rtl="0" algn="l">
              <a:lnSpc>
                <a:spcPct val="90000"/>
              </a:lnSpc>
              <a:spcBef>
                <a:spcPts val="1000"/>
              </a:spcBef>
              <a:spcAft>
                <a:spcPts val="0"/>
              </a:spcAft>
              <a:buSzPts val="2400"/>
              <a:buNone/>
            </a:pPr>
            <a:r>
              <a:t/>
            </a:r>
            <a:endParaRPr sz="2200"/>
          </a:p>
        </p:txBody>
      </p:sp>
      <p:sp>
        <p:nvSpPr>
          <p:cNvPr id="237" name="Google Shape;237;g385df597807_4_26"/>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cxnSp>
        <p:nvCxnSpPr>
          <p:cNvPr id="238" name="Google Shape;238;g385df597807_4_26"/>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sp>
        <p:nvSpPr>
          <p:cNvPr id="239" name="Google Shape;239;g385df597807_4_26"/>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85df597807_4_40"/>
          <p:cNvSpPr txBox="1"/>
          <p:nvPr>
            <p:ph type="title"/>
          </p:nvPr>
        </p:nvSpPr>
        <p:spPr>
          <a:xfrm>
            <a:off x="594303" y="266700"/>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4000"/>
              <a:buNone/>
            </a:pPr>
            <a:r>
              <a:rPr lang="en-US"/>
              <a:t>References</a:t>
            </a:r>
            <a:endParaRPr/>
          </a:p>
        </p:txBody>
      </p:sp>
      <p:sp>
        <p:nvSpPr>
          <p:cNvPr id="246" name="Google Shape;246;g385df597807_4_40"/>
          <p:cNvSpPr txBox="1"/>
          <p:nvPr>
            <p:ph idx="1" type="body"/>
          </p:nvPr>
        </p:nvSpPr>
        <p:spPr>
          <a:xfrm>
            <a:off x="582427" y="1768950"/>
            <a:ext cx="10515600" cy="4351200"/>
          </a:xfrm>
          <a:prstGeom prst="rect">
            <a:avLst/>
          </a:prstGeom>
          <a:noFill/>
          <a:ln>
            <a:noFill/>
          </a:ln>
        </p:spPr>
        <p:txBody>
          <a:bodyPr anchorCtr="0" anchor="t" bIns="45700" lIns="91425" spcFirstLastPara="1" rIns="91425" wrap="square" tIns="45700">
            <a:normAutofit/>
          </a:bodyPr>
          <a:lstStyle/>
          <a:p>
            <a:pPr indent="-368300" lvl="0" marL="457200" rtl="0" algn="l">
              <a:lnSpc>
                <a:spcPct val="90000"/>
              </a:lnSpc>
              <a:spcBef>
                <a:spcPts val="1000"/>
              </a:spcBef>
              <a:spcAft>
                <a:spcPts val="0"/>
              </a:spcAft>
              <a:buSzPts val="2200"/>
              <a:buChar char="•"/>
            </a:pPr>
            <a:r>
              <a:rPr lang="en-US" sz="2200"/>
              <a:t>Canny (1986) – A Computational Approach to Edge Detection</a:t>
            </a:r>
            <a:endParaRPr sz="2200"/>
          </a:p>
          <a:p>
            <a:pPr indent="0" lvl="0" marL="457200" rtl="0" algn="l">
              <a:lnSpc>
                <a:spcPct val="90000"/>
              </a:lnSpc>
              <a:spcBef>
                <a:spcPts val="1000"/>
              </a:spcBef>
              <a:spcAft>
                <a:spcPts val="0"/>
              </a:spcAft>
              <a:buSzPts val="2400"/>
              <a:buNone/>
            </a:pPr>
            <a:r>
              <a:rPr lang="en-US" sz="2200"/>
              <a:t>Introduced the Canny edge detector — still the most used edge detection technique.</a:t>
            </a:r>
            <a:endParaRPr sz="2200"/>
          </a:p>
          <a:p>
            <a:pPr indent="-368300" lvl="1" marL="914400" rtl="0" algn="l">
              <a:lnSpc>
                <a:spcPct val="90000"/>
              </a:lnSpc>
              <a:spcBef>
                <a:spcPts val="500"/>
              </a:spcBef>
              <a:spcAft>
                <a:spcPts val="0"/>
              </a:spcAft>
              <a:buSzPts val="2200"/>
              <a:buChar char="•"/>
            </a:pPr>
            <a:r>
              <a:rPr lang="en-US" sz="2200" u="sng">
                <a:solidFill>
                  <a:schemeClr val="hlink"/>
                </a:solidFill>
                <a:hlinkClick r:id="rId3"/>
              </a:rPr>
              <a:t>https://www.researchgate.net/publication/224377985_A_Computational_Approach_To_Edge_Detection</a:t>
            </a:r>
            <a:r>
              <a:rPr lang="en-US" sz="2200"/>
              <a:t> </a:t>
            </a:r>
            <a:endParaRPr sz="2200"/>
          </a:p>
          <a:p>
            <a:pPr indent="-368300" lvl="0" marL="457200" rtl="0" algn="l">
              <a:lnSpc>
                <a:spcPct val="90000"/>
              </a:lnSpc>
              <a:spcBef>
                <a:spcPts val="0"/>
              </a:spcBef>
              <a:spcAft>
                <a:spcPts val="0"/>
              </a:spcAft>
              <a:buSzPts val="2200"/>
              <a:buChar char="•"/>
            </a:pPr>
            <a:r>
              <a:rPr lang="en-US" sz="2200"/>
              <a:t>Suzuki &amp; Abe (1985) – Topological Structural Analysis of Digitized Binary Images by Border Following</a:t>
            </a:r>
            <a:endParaRPr sz="2200"/>
          </a:p>
          <a:p>
            <a:pPr indent="457200" lvl="0" marL="0" rtl="0" algn="l">
              <a:lnSpc>
                <a:spcPct val="90000"/>
              </a:lnSpc>
              <a:spcBef>
                <a:spcPts val="1000"/>
              </a:spcBef>
              <a:spcAft>
                <a:spcPts val="0"/>
              </a:spcAft>
              <a:buSzPts val="2400"/>
              <a:buNone/>
            </a:pPr>
            <a:r>
              <a:rPr lang="en-US" sz="2200"/>
              <a:t>Basis for cv2.findContours() algorithm used in OpenCV.</a:t>
            </a:r>
            <a:endParaRPr sz="2200"/>
          </a:p>
          <a:p>
            <a:pPr indent="-368300" lvl="1" marL="914400" rtl="0" algn="l">
              <a:lnSpc>
                <a:spcPct val="90000"/>
              </a:lnSpc>
              <a:spcBef>
                <a:spcPts val="1000"/>
              </a:spcBef>
              <a:spcAft>
                <a:spcPts val="0"/>
              </a:spcAft>
              <a:buSzPts val="2200"/>
              <a:buChar char="•"/>
            </a:pPr>
            <a:r>
              <a:rPr lang="en-US" sz="2200" u="sng">
                <a:solidFill>
                  <a:schemeClr val="hlink"/>
                </a:solidFill>
                <a:hlinkClick r:id="rId4"/>
              </a:rPr>
              <a:t>https://www.sciencedirect.com/science/article/pii/0734189X85900167</a:t>
            </a:r>
            <a:endParaRPr sz="2200"/>
          </a:p>
          <a:p>
            <a:pPr indent="0" lvl="0" marL="0" rtl="0" algn="l">
              <a:lnSpc>
                <a:spcPct val="90000"/>
              </a:lnSpc>
              <a:spcBef>
                <a:spcPts val="1000"/>
              </a:spcBef>
              <a:spcAft>
                <a:spcPts val="0"/>
              </a:spcAft>
              <a:buSzPts val="2400"/>
              <a:buNone/>
            </a:pPr>
            <a:r>
              <a:t/>
            </a:r>
            <a:endParaRPr sz="2200"/>
          </a:p>
          <a:p>
            <a:pPr indent="0" lvl="0" marL="0" rtl="0" algn="l">
              <a:lnSpc>
                <a:spcPct val="90000"/>
              </a:lnSpc>
              <a:spcBef>
                <a:spcPts val="1000"/>
              </a:spcBef>
              <a:spcAft>
                <a:spcPts val="0"/>
              </a:spcAft>
              <a:buSzPts val="2400"/>
              <a:buNone/>
            </a:pPr>
            <a:r>
              <a:rPr lang="en-US" sz="2200"/>
              <a:t>	</a:t>
            </a:r>
            <a:endParaRPr sz="2200"/>
          </a:p>
        </p:txBody>
      </p:sp>
      <p:sp>
        <p:nvSpPr>
          <p:cNvPr id="247" name="Google Shape;247;g385df597807_4_40"/>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r>
              <a:rPr lang="en-US"/>
              <a:t>|</a:t>
            </a:r>
            <a:r>
              <a:rPr b="0" lang="en-US"/>
              <a:t>  </a:t>
            </a:r>
            <a:fld id="{00000000-1234-1234-1234-123412341234}" type="slidenum">
              <a:rPr b="0" lang="en-US"/>
              <a:t>‹#›</a:t>
            </a:fld>
            <a:endParaRPr b="0"/>
          </a:p>
        </p:txBody>
      </p:sp>
      <p:cxnSp>
        <p:nvCxnSpPr>
          <p:cNvPr id="248" name="Google Shape;248;g385df597807_4_40"/>
          <p:cNvCxnSpPr/>
          <p:nvPr/>
        </p:nvCxnSpPr>
        <p:spPr>
          <a:xfrm>
            <a:off x="614600" y="1591450"/>
            <a:ext cx="10355700" cy="0"/>
          </a:xfrm>
          <a:prstGeom prst="straightConnector1">
            <a:avLst/>
          </a:prstGeom>
          <a:noFill/>
          <a:ln cap="flat" cmpd="sng" w="76200">
            <a:solidFill>
              <a:schemeClr val="dk2"/>
            </a:solidFill>
            <a:prstDash val="solid"/>
            <a:round/>
            <a:headEnd len="med" w="med" type="none"/>
            <a:tailEnd len="med" w="med" type="none"/>
          </a:ln>
        </p:spPr>
      </p:cxnSp>
      <p:sp>
        <p:nvSpPr>
          <p:cNvPr id="249" name="Google Shape;249;g385df597807_4_40"/>
          <p:cNvSpPr txBox="1"/>
          <p:nvPr>
            <p:ph idx="10" type="dt"/>
          </p:nvPr>
        </p:nvSpPr>
        <p:spPr>
          <a:xfrm>
            <a:off x="7924800" y="6284674"/>
            <a:ext cx="28779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400"/>
              <a:buNone/>
            </a:pPr>
            <a:r>
              <a:rPr lang="en-US"/>
              <a:t>17/11/25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a45292565f_0_22"/>
          <p:cNvSpPr txBox="1"/>
          <p:nvPr/>
        </p:nvSpPr>
        <p:spPr>
          <a:xfrm>
            <a:off x="4051650" y="3572550"/>
            <a:ext cx="4088700" cy="237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800">
                <a:solidFill>
                  <a:srgbClr val="FFFFFF"/>
                </a:solidFill>
                <a:latin typeface="Helvetica Neue"/>
                <a:ea typeface="Helvetica Neue"/>
                <a:cs typeface="Helvetica Neue"/>
                <a:sym typeface="Helvetica Neue"/>
              </a:rPr>
              <a:t>Thank You</a:t>
            </a:r>
            <a:endParaRPr b="1" sz="4800">
              <a:solidFill>
                <a:srgbClr val="FFFFFF"/>
              </a:solidFill>
              <a:latin typeface="Helvetica Neue"/>
              <a:ea typeface="Helvetica Neue"/>
              <a:cs typeface="Helvetica Neue"/>
              <a:sym typeface="Helvetica Neue"/>
            </a:endParaRPr>
          </a:p>
          <a:p>
            <a:pPr indent="0" lvl="0" marL="0" rtl="0" algn="ctr">
              <a:spcBef>
                <a:spcPts val="0"/>
              </a:spcBef>
              <a:spcAft>
                <a:spcPts val="0"/>
              </a:spcAft>
              <a:buNone/>
            </a:pPr>
            <a:r>
              <a:t/>
            </a:r>
            <a:endParaRPr b="1" sz="4800">
              <a:solidFill>
                <a:srgbClr val="FFFFFF"/>
              </a:solidFill>
              <a:latin typeface="Helvetica Neue"/>
              <a:ea typeface="Helvetica Neue"/>
              <a:cs typeface="Helvetica Neue"/>
              <a:sym typeface="Helvetica Neue"/>
            </a:endParaRPr>
          </a:p>
          <a:p>
            <a:pPr indent="0" lvl="0" marL="0" rtl="0" algn="ctr">
              <a:spcBef>
                <a:spcPts val="0"/>
              </a:spcBef>
              <a:spcAft>
                <a:spcPts val="0"/>
              </a:spcAft>
              <a:buNone/>
            </a:pPr>
            <a:r>
              <a:rPr b="1" lang="en-US" sz="4800">
                <a:solidFill>
                  <a:srgbClr val="FFFFFF"/>
                </a:solidFill>
                <a:latin typeface="Helvetica Neue"/>
                <a:ea typeface="Helvetica Neue"/>
                <a:cs typeface="Helvetica Neue"/>
                <a:sym typeface="Helvetica Neue"/>
              </a:rPr>
              <a:t>Questions?</a:t>
            </a:r>
            <a:endParaRPr b="1" sz="4800">
              <a:solidFill>
                <a:srgbClr val="FFFFFF"/>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