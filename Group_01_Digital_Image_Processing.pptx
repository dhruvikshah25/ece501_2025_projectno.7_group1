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Helvetica Neue"/>
      <p:regular r:id="rId17"/>
      <p:bold r:id="rId18"/>
      <p:italic r:id="rId19"/>
      <p:boldItalic r:id="rId20"/>
    </p:embeddedFont>
    <p:embeddedFont>
      <p:font typeface="Helvetica Neue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tMDFeaBQBQziCI47eNwOFsGti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9D9A95-C7DA-468E-8B9D-617FDA7CB967}">
  <a:tblStyle styleId="{AC9D9A95-C7DA-468E-8B9D-617FDA7CB96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22" Type="http://schemas.openxmlformats.org/officeDocument/2006/relationships/font" Target="fonts/HelveticaNeueLight-bold.fntdata"/><Relationship Id="rId21" Type="http://schemas.openxmlformats.org/officeDocument/2006/relationships/font" Target="fonts/HelveticaNeueLight-regular.fntdata"/><Relationship Id="rId24" Type="http://schemas.openxmlformats.org/officeDocument/2006/relationships/font" Target="fonts/HelveticaNeueLight-boldItalic.fntdata"/><Relationship Id="rId23" Type="http://schemas.openxmlformats.org/officeDocument/2006/relationships/font" Target="fonts/HelveticaNeue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HelveticaNeue-regular.fntdata"/><Relationship Id="rId16" Type="http://schemas.openxmlformats.org/officeDocument/2006/relationships/slide" Target="slides/slide11.xml"/><Relationship Id="rId19" Type="http://schemas.openxmlformats.org/officeDocument/2006/relationships/font" Target="fonts/HelveticaNeue-italic.fntdata"/><Relationship Id="rId1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5df59780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385df59780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5df59780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85df59780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85df59780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5df597807_4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385df597807_4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5df597807_4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85df597807_4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85df597807_4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5df597807_4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5df597807_4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85df597807_4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5df597807_4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5df597807_4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85df597807_4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5df597807_4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5df597807_4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85df597807_4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5df597807_4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85df597807_4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85df597807_4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801B19"/>
        </a:solid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844150" y="3874808"/>
            <a:ext cx="10515600" cy="835416"/>
          </a:xfrm>
          <a:prstGeom prst="rect">
            <a:avLst/>
          </a:prstGeom>
          <a:noFill/>
          <a:ln>
            <a:noFill/>
          </a:ln>
        </p:spPr>
        <p:txBody>
          <a:bodyPr anchorCtr="1" anchor="t" bIns="45700" lIns="91425" spcFirstLastPara="1" rIns="91425" wrap="square" tIns="45700">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 name="Google Shape;20;p5"/>
          <p:cNvPicPr preferRelativeResize="0"/>
          <p:nvPr/>
        </p:nvPicPr>
        <p:blipFill rotWithShape="1">
          <a:blip r:embed="rId2">
            <a:alphaModFix/>
          </a:blip>
          <a:srcRect b="0" l="0" r="0" t="0"/>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Font typeface="Helvetica Neue Light"/>
              <a:buNone/>
              <a:defRPr b="0" i="0" sz="2000">
                <a:solidFill>
                  <a:srgbClr val="888888"/>
                </a:solidFill>
                <a:latin typeface="Helvetica Neue Light"/>
                <a:ea typeface="Helvetica Neue Light"/>
                <a:cs typeface="Helvetica Neue Light"/>
                <a:sym typeface="Helvetica Neue Light"/>
              </a:defRPr>
            </a:lvl1pPr>
            <a:lvl2pPr indent="-228600" lvl="1" marL="914400" algn="l">
              <a:lnSpc>
                <a:spcPct val="90000"/>
              </a:lnSpc>
              <a:spcBef>
                <a:spcPts val="500"/>
              </a:spcBef>
              <a:spcAft>
                <a:spcPts val="0"/>
              </a:spcAft>
              <a:buClr>
                <a:srgbClr val="888888"/>
              </a:buClr>
              <a:buSzPts val="2000"/>
              <a:buFont typeface="Helvetica Neue Light"/>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Helvetica Neue Light"/>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Helvetica Neue Light"/>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Helvetica Neue Light"/>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6"/>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25" name="Google Shape;25;p6"/>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 name="Google Shape;26;p6"/>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7"/>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Helvetica Neue Light"/>
              <a:buChar char="•"/>
              <a:defRPr sz="2400"/>
            </a:lvl1pPr>
            <a:lvl2pPr indent="-355600" lvl="1" marL="914400" algn="l">
              <a:lnSpc>
                <a:spcPct val="90000"/>
              </a:lnSpc>
              <a:spcBef>
                <a:spcPts val="500"/>
              </a:spcBef>
              <a:spcAft>
                <a:spcPts val="0"/>
              </a:spcAft>
              <a:buClr>
                <a:schemeClr val="dk1"/>
              </a:buClr>
              <a:buSzPts val="2000"/>
              <a:buFont typeface="Helvetica Neue Light"/>
              <a:buChar char="•"/>
              <a:defRPr sz="2000"/>
            </a:lvl2pPr>
            <a:lvl3pPr indent="-342900" lvl="2" marL="1371600" algn="l">
              <a:lnSpc>
                <a:spcPct val="90000"/>
              </a:lnSpc>
              <a:spcBef>
                <a:spcPts val="500"/>
              </a:spcBef>
              <a:spcAft>
                <a:spcPts val="0"/>
              </a:spcAft>
              <a:buClr>
                <a:schemeClr val="dk1"/>
              </a:buClr>
              <a:buSzPts val="1800"/>
              <a:buFont typeface="Helvetica Neue Light"/>
              <a:buChar char="•"/>
              <a:defRPr sz="1800"/>
            </a:lvl3pPr>
            <a:lvl4pPr indent="-330200" lvl="3" marL="1828800" algn="l">
              <a:lnSpc>
                <a:spcPct val="90000"/>
              </a:lnSpc>
              <a:spcBef>
                <a:spcPts val="500"/>
              </a:spcBef>
              <a:spcAft>
                <a:spcPts val="0"/>
              </a:spcAft>
              <a:buClr>
                <a:schemeClr val="dk1"/>
              </a:buClr>
              <a:buSzPts val="1600"/>
              <a:buFont typeface="Helvetica Neue Light"/>
              <a:buChar char="•"/>
              <a:defRPr sz="1600"/>
            </a:lvl4pPr>
            <a:lvl5pPr indent="-330200" lvl="4" marL="2286000" algn="l">
              <a:lnSpc>
                <a:spcPct val="90000"/>
              </a:lnSpc>
              <a:spcBef>
                <a:spcPts val="500"/>
              </a:spcBef>
              <a:spcAft>
                <a:spcPts val="0"/>
              </a:spcAft>
              <a:buClr>
                <a:schemeClr val="dk1"/>
              </a:buClr>
              <a:buSzPts val="1600"/>
              <a:buFont typeface="Helvetica Neue Light"/>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7"/>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1" name="Google Shape;31;p7"/>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2" name="Google Shape;32;p7"/>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extLst>
    <p:ext uri="{DCECCB84-F9BA-43D5-87BE-67443E8EF086}">
      <p15:sldGuideLst>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8" name="Google Shape;38;p8"/>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9" name="Google Shape;39;p8"/>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9"/>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47" name="Google Shape;47;p9"/>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8" name="Google Shape;48;p9"/>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2" name="Google Shape;52;p10"/>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3" name="Google Shape;53;p10"/>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6" name="Google Shape;56;p1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7" name="Google Shape;57;p11"/>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Helvetica Neue Light"/>
              <a:buChar char="•"/>
              <a:defRPr sz="3200"/>
            </a:lvl1pPr>
            <a:lvl2pPr indent="-406400" lvl="1" marL="914400" algn="l">
              <a:lnSpc>
                <a:spcPct val="90000"/>
              </a:lnSpc>
              <a:spcBef>
                <a:spcPts val="500"/>
              </a:spcBef>
              <a:spcAft>
                <a:spcPts val="0"/>
              </a:spcAft>
              <a:buClr>
                <a:schemeClr val="dk1"/>
              </a:buClr>
              <a:buSzPts val="2800"/>
              <a:buFont typeface="Helvetica Neue Light"/>
              <a:buChar char="•"/>
              <a:defRPr sz="2800"/>
            </a:lvl2pPr>
            <a:lvl3pPr indent="-381000" lvl="2" marL="1371600" algn="l">
              <a:lnSpc>
                <a:spcPct val="90000"/>
              </a:lnSpc>
              <a:spcBef>
                <a:spcPts val="500"/>
              </a:spcBef>
              <a:spcAft>
                <a:spcPts val="0"/>
              </a:spcAft>
              <a:buClr>
                <a:schemeClr val="dk1"/>
              </a:buClr>
              <a:buSzPts val="2400"/>
              <a:buFont typeface="Helvetica Neue Light"/>
              <a:buChar char="•"/>
              <a:defRPr sz="2400"/>
            </a:lvl3pPr>
            <a:lvl4pPr indent="-355600" lvl="3" marL="1828800" algn="l">
              <a:lnSpc>
                <a:spcPct val="90000"/>
              </a:lnSpc>
              <a:spcBef>
                <a:spcPts val="500"/>
              </a:spcBef>
              <a:spcAft>
                <a:spcPts val="0"/>
              </a:spcAft>
              <a:buClr>
                <a:schemeClr val="dk1"/>
              </a:buClr>
              <a:buSzPts val="2000"/>
              <a:buFont typeface="Helvetica Neue Light"/>
              <a:buChar char="•"/>
              <a:defRPr sz="2000"/>
            </a:lvl4pPr>
            <a:lvl5pPr indent="-355600" lvl="4" marL="2286000" algn="l">
              <a:lnSpc>
                <a:spcPct val="90000"/>
              </a:lnSpc>
              <a:spcBef>
                <a:spcPts val="500"/>
              </a:spcBef>
              <a:spcAft>
                <a:spcPts val="0"/>
              </a:spcAft>
              <a:buClr>
                <a:schemeClr val="dk1"/>
              </a:buClr>
              <a:buSzPts val="2000"/>
              <a:buFont typeface="Helvetica Neue Light"/>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63" name="Google Shape;63;p1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4" name="Google Shape;64;p12"/>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p:nvPr>
            <p:ph idx="2" type="pic"/>
          </p:nvPr>
        </p:nvSpPr>
        <p:spPr>
          <a:xfrm>
            <a:off x="5183188" y="987425"/>
            <a:ext cx="6172200" cy="4873625"/>
          </a:xfrm>
          <a:prstGeom prst="rect">
            <a:avLst/>
          </a:prstGeom>
          <a:noFill/>
          <a:ln>
            <a:noFill/>
          </a:ln>
        </p:spPr>
      </p:sp>
      <p:sp>
        <p:nvSpPr>
          <p:cNvPr id="68" name="Google Shape;68;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0" name="Google Shape;70;p1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1" name="Google Shape;71;p13"/>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6" name="Google Shape;76;p1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7" name="Google Shape;77;p14"/>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5"/>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5"/>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82" name="Google Shape;82;p15"/>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83" name="Google Shape;83;p15"/>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Helvetica Neue"/>
              <a:buNone/>
              <a:defRPr b="1" i="0" sz="40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Helvetica Neue Light"/>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lnSpc>
                <a:spcPct val="90000"/>
              </a:lnSpc>
              <a:spcBef>
                <a:spcPts val="500"/>
              </a:spcBef>
              <a:spcAft>
                <a:spcPts val="0"/>
              </a:spcAft>
              <a:buClr>
                <a:schemeClr val="dk1"/>
              </a:buClr>
              <a:buSzPts val="2400"/>
              <a:buFont typeface="Helvetica Neue Light"/>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lnSpc>
                <a:spcPct val="90000"/>
              </a:lnSpc>
              <a:spcBef>
                <a:spcPts val="500"/>
              </a:spcBef>
              <a:spcAft>
                <a:spcPts val="0"/>
              </a:spcAft>
              <a:buClr>
                <a:schemeClr val="dk1"/>
              </a:buClr>
              <a:buSzPts val="2000"/>
              <a:buFont typeface="Helvetica Neue Light"/>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 name="Google Shape;12;p4"/>
          <p:cNvGrpSpPr/>
          <p:nvPr/>
        </p:nvGrpSpPr>
        <p:grpSpPr>
          <a:xfrm>
            <a:off x="0" y="6756400"/>
            <a:ext cx="12192000" cy="105496"/>
            <a:chOff x="0" y="6756400"/>
            <a:chExt cx="12192000" cy="105496"/>
          </a:xfrm>
        </p:grpSpPr>
        <p:pic>
          <p:nvPicPr>
            <p:cNvPr id="13" name="Google Shape;13;p4"/>
            <p:cNvPicPr preferRelativeResize="0"/>
            <p:nvPr/>
          </p:nvPicPr>
          <p:blipFill rotWithShape="1">
            <a:blip r:embed="rId1">
              <a:alphaModFix/>
            </a:blip>
            <a:srcRect b="0" l="0" r="0" t="0"/>
            <a:stretch/>
          </p:blipFill>
          <p:spPr>
            <a:xfrm>
              <a:off x="1524000" y="6756400"/>
              <a:ext cx="9144000" cy="101600"/>
            </a:xfrm>
            <a:prstGeom prst="rect">
              <a:avLst/>
            </a:prstGeom>
            <a:noFill/>
            <a:ln>
              <a:noFill/>
            </a:ln>
          </p:spPr>
        </p:pic>
        <p:pic>
          <p:nvPicPr>
            <p:cNvPr id="14" name="Google Shape;14;p4"/>
            <p:cNvPicPr preferRelativeResize="0"/>
            <p:nvPr/>
          </p:nvPicPr>
          <p:blipFill rotWithShape="1">
            <a:blip r:embed="rId1">
              <a:alphaModFix/>
            </a:blip>
            <a:srcRect b="15585" l="0" r="71580" t="0"/>
            <a:stretch/>
          </p:blipFill>
          <p:spPr>
            <a:xfrm>
              <a:off x="0" y="6756400"/>
              <a:ext cx="2598717" cy="101600"/>
            </a:xfrm>
            <a:prstGeom prst="rect">
              <a:avLst/>
            </a:prstGeom>
            <a:noFill/>
            <a:ln>
              <a:noFill/>
            </a:ln>
          </p:spPr>
        </p:pic>
        <p:pic>
          <p:nvPicPr>
            <p:cNvPr id="15" name="Google Shape;15;p4"/>
            <p:cNvPicPr preferRelativeResize="0"/>
            <p:nvPr/>
          </p:nvPicPr>
          <p:blipFill rotWithShape="1">
            <a:blip r:embed="rId1">
              <a:alphaModFix/>
            </a:blip>
            <a:srcRect b="15585" l="0" r="71580" t="0"/>
            <a:stretch/>
          </p:blipFill>
          <p:spPr>
            <a:xfrm>
              <a:off x="9593283" y="6756400"/>
              <a:ext cx="2598717" cy="105496"/>
            </a:xfrm>
            <a:prstGeom prst="rect">
              <a:avLst/>
            </a:prstGeom>
            <a:noFill/>
            <a:ln>
              <a:noFill/>
            </a:ln>
          </p:spPr>
        </p:pic>
      </p:grpSp>
      <p:sp>
        <p:nvSpPr>
          <p:cNvPr id="16" name="Google Shape;16;p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17" name="Google Shape;17;p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7F7F7F"/>
                </a:solidFill>
                <a:latin typeface="Helvetica Neue Light"/>
                <a:ea typeface="Helvetica Neue Light"/>
                <a:cs typeface="Helvetica Neue Light"/>
                <a:sym typeface="Helvetica Neue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sciencedirect.com/science/article/pii/0734189X8590016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1.jpg"/><Relationship Id="rId6"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hyperlink" Target="http://drive.google.com/file/d/1UWN77H_Kufug6i-Dk3WhiWrF7M4-_Q5r/view" TargetMode="External"/><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researchgate.net/publication/224377985_A_Computational_Approach_To_Edge_Detection" TargetMode="External"/><Relationship Id="rId4" Type="http://schemas.openxmlformats.org/officeDocument/2006/relationships/hyperlink" Target="https://www.sciencedirect.com/science/article/pii/0734189X8590016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2867100" y="3429000"/>
            <a:ext cx="6457800" cy="1249200"/>
          </a:xfrm>
          <a:prstGeom prst="rect">
            <a:avLst/>
          </a:prstGeom>
          <a:noFill/>
          <a:ln>
            <a:noFill/>
          </a:ln>
        </p:spPr>
        <p:txBody>
          <a:bodyPr anchorCtr="1"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4300"/>
              <a:t>Document Scanner And </a:t>
            </a:r>
            <a:endParaRPr sz="4300"/>
          </a:p>
          <a:p>
            <a:pPr indent="0" lvl="0" marL="0" rtl="0" algn="l">
              <a:lnSpc>
                <a:spcPct val="90000"/>
              </a:lnSpc>
              <a:spcBef>
                <a:spcPts val="0"/>
              </a:spcBef>
              <a:spcAft>
                <a:spcPts val="0"/>
              </a:spcAft>
              <a:buClr>
                <a:schemeClr val="dk1"/>
              </a:buClr>
              <a:buSzPts val="1100"/>
              <a:buFont typeface="Arial"/>
              <a:buNone/>
            </a:pPr>
            <a:r>
              <a:rPr lang="en-US" sz="4300"/>
              <a:t>Perspective Correction</a:t>
            </a:r>
            <a:endParaRPr sz="4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831850" y="379750"/>
            <a:ext cx="10515600" cy="1746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5400"/>
              <a:buFont typeface="Helvetica Neue"/>
              <a:buNone/>
            </a:pPr>
            <a:r>
              <a:rPr lang="en-US"/>
              <a:t>Group 01 - Digital Image Processing</a:t>
            </a:r>
            <a:endParaRPr/>
          </a:p>
        </p:txBody>
      </p:sp>
      <p:sp>
        <p:nvSpPr>
          <p:cNvPr id="94" name="Google Shape;94;p2"/>
          <p:cNvSpPr txBox="1"/>
          <p:nvPr>
            <p:ph idx="1" type="body"/>
          </p:nvPr>
        </p:nvSpPr>
        <p:spPr>
          <a:xfrm>
            <a:off x="831850" y="23159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000"/>
              <a:buFont typeface="Helvetica Neue Light"/>
              <a:buNone/>
            </a:pPr>
            <a:r>
              <a:t/>
            </a:r>
            <a:endParaRPr/>
          </a:p>
          <a:p>
            <a:pPr indent="0" lvl="0" marL="0" rtl="0" algn="l">
              <a:lnSpc>
                <a:spcPct val="90000"/>
              </a:lnSpc>
              <a:spcBef>
                <a:spcPts val="1000"/>
              </a:spcBef>
              <a:spcAft>
                <a:spcPts val="0"/>
              </a:spcAft>
              <a:buClr>
                <a:srgbClr val="888888"/>
              </a:buClr>
              <a:buSzPts val="2000"/>
              <a:buFont typeface="Helvetica Neue Light"/>
              <a:buNone/>
            </a:pPr>
            <a:r>
              <a:t/>
            </a:r>
            <a:endParaRPr/>
          </a:p>
          <a:p>
            <a:pPr indent="0" lvl="0" marL="0" rtl="0" algn="l">
              <a:lnSpc>
                <a:spcPct val="90000"/>
              </a:lnSpc>
              <a:spcBef>
                <a:spcPts val="1000"/>
              </a:spcBef>
              <a:spcAft>
                <a:spcPts val="0"/>
              </a:spcAft>
              <a:buClr>
                <a:srgbClr val="888888"/>
              </a:buClr>
              <a:buSzPts val="2000"/>
              <a:buFont typeface="Helvetica Neue Light"/>
              <a:buNone/>
            </a:pPr>
            <a:r>
              <a:t/>
            </a:r>
            <a:endParaRPr/>
          </a:p>
        </p:txBody>
      </p:sp>
      <p:sp>
        <p:nvSpPr>
          <p:cNvPr id="95" name="Google Shape;95;p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96" name="Google Shape;96;p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graphicFrame>
        <p:nvGraphicFramePr>
          <p:cNvPr id="97" name="Google Shape;97;p2"/>
          <p:cNvGraphicFramePr/>
          <p:nvPr/>
        </p:nvGraphicFramePr>
        <p:xfrm>
          <a:off x="952500" y="2476500"/>
          <a:ext cx="3000000" cy="3000000"/>
        </p:xfrm>
        <a:graphic>
          <a:graphicData uri="http://schemas.openxmlformats.org/drawingml/2006/table">
            <a:tbl>
              <a:tblPr>
                <a:noFill/>
                <a:tableStyleId>{AC9D9A95-C7DA-468E-8B9D-617FDA7CB967}</a:tableStyleId>
              </a:tblPr>
              <a:tblGrid>
                <a:gridCol w="5143500"/>
                <a:gridCol w="5143500"/>
              </a:tblGrid>
              <a:tr h="381000">
                <a:tc>
                  <a:txBody>
                    <a:bodyPr/>
                    <a:lstStyle/>
                    <a:p>
                      <a:pPr indent="0" lvl="0" marL="0" rtl="0" algn="l">
                        <a:spcBef>
                          <a:spcPts val="0"/>
                        </a:spcBef>
                        <a:spcAft>
                          <a:spcPts val="0"/>
                        </a:spcAft>
                        <a:buNone/>
                      </a:pPr>
                      <a:r>
                        <a:rPr b="1" lang="en-US" sz="1800"/>
                        <a:t>Name</a:t>
                      </a:r>
                      <a:endParaRPr b="1" sz="1800"/>
                    </a:p>
                  </a:txBody>
                  <a:tcPr marT="91425" marB="91425" marR="91425" marL="91425"/>
                </a:tc>
                <a:tc>
                  <a:txBody>
                    <a:bodyPr/>
                    <a:lstStyle/>
                    <a:p>
                      <a:pPr indent="0" lvl="0" marL="0" rtl="0" algn="l">
                        <a:spcBef>
                          <a:spcPts val="0"/>
                        </a:spcBef>
                        <a:spcAft>
                          <a:spcPts val="0"/>
                        </a:spcAft>
                        <a:buNone/>
                      </a:pPr>
                      <a:r>
                        <a:rPr b="1" lang="en-US" sz="1800"/>
                        <a:t>Enrolment No.</a:t>
                      </a:r>
                      <a:endParaRPr b="1" sz="1800"/>
                    </a:p>
                  </a:txBody>
                  <a:tcPr marT="91425" marB="91425" marR="91425" marL="91425"/>
                </a:tc>
              </a:tr>
              <a:tr h="381000">
                <a:tc>
                  <a:txBody>
                    <a:bodyPr/>
                    <a:lstStyle/>
                    <a:p>
                      <a:pPr indent="0" lvl="0" marL="0" rtl="0" algn="l">
                        <a:spcBef>
                          <a:spcPts val="0"/>
                        </a:spcBef>
                        <a:spcAft>
                          <a:spcPts val="0"/>
                        </a:spcAft>
                        <a:buNone/>
                      </a:pPr>
                      <a:r>
                        <a:rPr lang="en-US" sz="1600"/>
                        <a:t>Ayush Makwana</a:t>
                      </a:r>
                      <a:endParaRPr sz="1600"/>
                    </a:p>
                  </a:txBody>
                  <a:tcPr marT="91425" marB="91425" marR="91425" marL="91425"/>
                </a:tc>
                <a:tc>
                  <a:txBody>
                    <a:bodyPr/>
                    <a:lstStyle/>
                    <a:p>
                      <a:pPr indent="0" lvl="0" marL="0" rtl="0" algn="l">
                        <a:spcBef>
                          <a:spcPts val="0"/>
                        </a:spcBef>
                        <a:spcAft>
                          <a:spcPts val="0"/>
                        </a:spcAft>
                        <a:buNone/>
                      </a:pPr>
                      <a:r>
                        <a:rPr lang="en-US" sz="1600"/>
                        <a:t>AU2340138</a:t>
                      </a:r>
                      <a:endParaRPr sz="1600"/>
                    </a:p>
                  </a:txBody>
                  <a:tcPr marT="91425" marB="91425" marR="91425" marL="91425"/>
                </a:tc>
              </a:tr>
              <a:tr h="381000">
                <a:tc>
                  <a:txBody>
                    <a:bodyPr/>
                    <a:lstStyle/>
                    <a:p>
                      <a:pPr indent="0" lvl="0" marL="0" rtl="0" algn="l">
                        <a:spcBef>
                          <a:spcPts val="0"/>
                        </a:spcBef>
                        <a:spcAft>
                          <a:spcPts val="0"/>
                        </a:spcAft>
                        <a:buNone/>
                      </a:pPr>
                      <a:r>
                        <a:rPr lang="en-US" sz="1600"/>
                        <a:t>Dhruvik Shah</a:t>
                      </a:r>
                      <a:endParaRPr sz="1600"/>
                    </a:p>
                  </a:txBody>
                  <a:tcPr marT="91425" marB="91425" marR="91425" marL="91425"/>
                </a:tc>
                <a:tc>
                  <a:txBody>
                    <a:bodyPr/>
                    <a:lstStyle/>
                    <a:p>
                      <a:pPr indent="0" lvl="0" marL="0" rtl="0" algn="l">
                        <a:spcBef>
                          <a:spcPts val="0"/>
                        </a:spcBef>
                        <a:spcAft>
                          <a:spcPts val="0"/>
                        </a:spcAft>
                        <a:buNone/>
                      </a:pPr>
                      <a:r>
                        <a:rPr lang="en-US" sz="1600"/>
                        <a:t>AU2340113</a:t>
                      </a:r>
                      <a:endParaRPr sz="1600"/>
                    </a:p>
                  </a:txBody>
                  <a:tcPr marT="91425" marB="91425" marR="91425" marL="91425"/>
                </a:tc>
              </a:tr>
              <a:tr h="381000">
                <a:tc>
                  <a:txBody>
                    <a:bodyPr/>
                    <a:lstStyle/>
                    <a:p>
                      <a:pPr indent="0" lvl="0" marL="0" rtl="0" algn="l">
                        <a:spcBef>
                          <a:spcPts val="0"/>
                        </a:spcBef>
                        <a:spcAft>
                          <a:spcPts val="0"/>
                        </a:spcAft>
                        <a:buNone/>
                      </a:pPr>
                      <a:r>
                        <a:rPr lang="en-US" sz="1600"/>
                        <a:t>Divyam Thakkar</a:t>
                      </a:r>
                      <a:endParaRPr sz="1600"/>
                    </a:p>
                  </a:txBody>
                  <a:tcPr marT="91425" marB="91425" marR="91425" marL="91425"/>
                </a:tc>
                <a:tc>
                  <a:txBody>
                    <a:bodyPr/>
                    <a:lstStyle/>
                    <a:p>
                      <a:pPr indent="0" lvl="0" marL="0" rtl="0" algn="l">
                        <a:spcBef>
                          <a:spcPts val="0"/>
                        </a:spcBef>
                        <a:spcAft>
                          <a:spcPts val="0"/>
                        </a:spcAft>
                        <a:buNone/>
                      </a:pPr>
                      <a:r>
                        <a:rPr lang="en-US" sz="1600"/>
                        <a:t>AU2340227</a:t>
                      </a:r>
                      <a:endParaRPr sz="1600"/>
                    </a:p>
                  </a:txBody>
                  <a:tcPr marT="91425" marB="91425" marR="91425" marL="91425"/>
                </a:tc>
              </a:tr>
              <a:tr h="381000">
                <a:tc>
                  <a:txBody>
                    <a:bodyPr/>
                    <a:lstStyle/>
                    <a:p>
                      <a:pPr indent="0" lvl="0" marL="0" rtl="0" algn="l">
                        <a:spcBef>
                          <a:spcPts val="0"/>
                        </a:spcBef>
                        <a:spcAft>
                          <a:spcPts val="0"/>
                        </a:spcAft>
                        <a:buNone/>
                      </a:pPr>
                      <a:r>
                        <a:rPr lang="en-US" sz="1600"/>
                        <a:t>Jainik Patel</a:t>
                      </a:r>
                      <a:endParaRPr sz="1600"/>
                    </a:p>
                  </a:txBody>
                  <a:tcPr marT="91425" marB="91425" marR="91425" marL="91425"/>
                </a:tc>
                <a:tc>
                  <a:txBody>
                    <a:bodyPr/>
                    <a:lstStyle/>
                    <a:p>
                      <a:pPr indent="0" lvl="0" marL="0" rtl="0" algn="l">
                        <a:spcBef>
                          <a:spcPts val="0"/>
                        </a:spcBef>
                        <a:spcAft>
                          <a:spcPts val="0"/>
                        </a:spcAft>
                        <a:buNone/>
                      </a:pPr>
                      <a:r>
                        <a:rPr lang="en-US" sz="1600"/>
                        <a:t>AU2340042</a:t>
                      </a:r>
                      <a:endParaRPr sz="16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sz="4500"/>
              <a:t>Introduction</a:t>
            </a:r>
            <a:endParaRPr sz="4500"/>
          </a:p>
        </p:txBody>
      </p:sp>
      <p:sp>
        <p:nvSpPr>
          <p:cNvPr id="103" name="Google Shape;103;p3"/>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lnSpcReduction="10000"/>
          </a:bodyPr>
          <a:lstStyle/>
          <a:p>
            <a:pPr indent="-412750" lvl="0" marL="457200" rtl="0" algn="l">
              <a:lnSpc>
                <a:spcPct val="150000"/>
              </a:lnSpc>
              <a:spcBef>
                <a:spcPts val="1000"/>
              </a:spcBef>
              <a:spcAft>
                <a:spcPts val="0"/>
              </a:spcAft>
              <a:buSzPts val="2900"/>
              <a:buChar char="•"/>
            </a:pPr>
            <a:r>
              <a:rPr b="1" lang="en-US" sz="2900"/>
              <a:t>Document Scanning </a:t>
            </a:r>
            <a:endParaRPr b="1" sz="2900"/>
          </a:p>
          <a:p>
            <a:pPr indent="-412750" lvl="1" marL="914400" rtl="0" algn="l">
              <a:lnSpc>
                <a:spcPct val="150000"/>
              </a:lnSpc>
              <a:spcBef>
                <a:spcPts val="0"/>
              </a:spcBef>
              <a:spcAft>
                <a:spcPts val="0"/>
              </a:spcAft>
              <a:buSzPts val="2900"/>
              <a:buChar char="•"/>
            </a:pPr>
            <a:r>
              <a:rPr b="1" lang="en-US" sz="2900"/>
              <a:t>Problems</a:t>
            </a:r>
            <a:endParaRPr b="1" sz="2900"/>
          </a:p>
          <a:p>
            <a:pPr indent="-387350" lvl="2" marL="1371600" rtl="0" algn="l">
              <a:lnSpc>
                <a:spcPct val="150000"/>
              </a:lnSpc>
              <a:spcBef>
                <a:spcPts val="0"/>
              </a:spcBef>
              <a:spcAft>
                <a:spcPts val="0"/>
              </a:spcAft>
              <a:buSzPts val="2500"/>
              <a:buChar char="•"/>
            </a:pPr>
            <a:r>
              <a:rPr lang="en-US" sz="2500"/>
              <a:t>Edge Detection</a:t>
            </a:r>
            <a:endParaRPr sz="2500"/>
          </a:p>
          <a:p>
            <a:pPr indent="-387350" lvl="2" marL="1371600" rtl="0" algn="l">
              <a:lnSpc>
                <a:spcPct val="150000"/>
              </a:lnSpc>
              <a:spcBef>
                <a:spcPts val="0"/>
              </a:spcBef>
              <a:spcAft>
                <a:spcPts val="0"/>
              </a:spcAft>
              <a:buSzPts val="2500"/>
              <a:buChar char="•"/>
            </a:pPr>
            <a:r>
              <a:rPr lang="en-US" sz="2500"/>
              <a:t>P</a:t>
            </a:r>
            <a:r>
              <a:rPr lang="en-US" sz="2500"/>
              <a:t>erspective</a:t>
            </a:r>
            <a:r>
              <a:rPr lang="en-US" sz="2500"/>
              <a:t> Correction</a:t>
            </a:r>
            <a:endParaRPr sz="2500"/>
          </a:p>
          <a:p>
            <a:pPr indent="0" lvl="0" marL="0" rtl="0" algn="l">
              <a:lnSpc>
                <a:spcPct val="150000"/>
              </a:lnSpc>
              <a:spcBef>
                <a:spcPts val="1000"/>
              </a:spcBef>
              <a:spcAft>
                <a:spcPts val="0"/>
              </a:spcAft>
              <a:buNone/>
            </a:pPr>
            <a:r>
              <a:rPr b="1" lang="en-US" sz="2900"/>
              <a:t>Goal:</a:t>
            </a:r>
            <a:endParaRPr b="1" sz="29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US"/>
              <a:t>Through this project we expect to transform a photographed document into a clean scanned copy.</a:t>
            </a:r>
            <a:endParaRPr sz="2500"/>
          </a:p>
          <a:p>
            <a:pPr indent="0" lvl="0" marL="457200" rtl="0" algn="l">
              <a:lnSpc>
                <a:spcPct val="150000"/>
              </a:lnSpc>
              <a:spcBef>
                <a:spcPts val="1000"/>
              </a:spcBef>
              <a:spcAft>
                <a:spcPts val="0"/>
              </a:spcAft>
              <a:buNone/>
            </a:pPr>
            <a:r>
              <a:t/>
            </a:r>
            <a:endParaRPr/>
          </a:p>
        </p:txBody>
      </p:sp>
      <p:sp>
        <p:nvSpPr>
          <p:cNvPr id="104" name="Google Shape;104;p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05" name="Google Shape;105;p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85df597807_0_0"/>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Literature Review</a:t>
            </a:r>
            <a:endParaRPr/>
          </a:p>
        </p:txBody>
      </p:sp>
      <p:sp>
        <p:nvSpPr>
          <p:cNvPr id="111" name="Google Shape;111;g385df597807_0_0"/>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1000"/>
              </a:spcBef>
              <a:spcAft>
                <a:spcPts val="0"/>
              </a:spcAft>
              <a:buClr>
                <a:schemeClr val="dk1"/>
              </a:buClr>
              <a:buSzPts val="2400"/>
              <a:buFont typeface="Helvetica Neue Light"/>
              <a:buNone/>
            </a:pPr>
            <a:r>
              <a:t/>
            </a:r>
            <a:endParaRPr/>
          </a:p>
          <a:p>
            <a:pPr indent="-76200" lvl="0" marL="228600" rtl="0" algn="ctr">
              <a:lnSpc>
                <a:spcPct val="100000"/>
              </a:lnSpc>
              <a:spcBef>
                <a:spcPts val="1000"/>
              </a:spcBef>
              <a:spcAft>
                <a:spcPts val="0"/>
              </a:spcAft>
              <a:buClr>
                <a:schemeClr val="dk1"/>
              </a:buClr>
              <a:buSzPts val="2400"/>
              <a:buFont typeface="Helvetica Neue Light"/>
              <a:buNone/>
            </a:pPr>
            <a:r>
              <a:rPr lang="en-US"/>
              <a:t>F</a:t>
            </a:r>
            <a:r>
              <a:rPr lang="en-US"/>
              <a:t>rom the articles and information available on the web we managed to find different ways of </a:t>
            </a:r>
            <a:r>
              <a:rPr lang="en-US"/>
              <a:t>achieving</a:t>
            </a:r>
            <a:r>
              <a:rPr lang="en-US"/>
              <a:t> the goal set forward for us. The article given below used a combination of edge localization techniques with geometric transformation to correct the perspective angles. This </a:t>
            </a:r>
            <a:r>
              <a:rPr lang="en-US"/>
              <a:t>technique</a:t>
            </a:r>
            <a:r>
              <a:rPr lang="en-US"/>
              <a:t> was used by Wormbs et al. that applied Canny edge detection followed by homography estimation for perspective distortion. More recently these tasks are pushed to finer details due to the use of deep learning models like </a:t>
            </a:r>
            <a:r>
              <a:rPr lang="en-US"/>
              <a:t>DesigNed</a:t>
            </a:r>
            <a:r>
              <a:rPr lang="en-US"/>
              <a:t> for exceptional results. This literature involves the transformation of tech from classical gradient edge detection and geometric wrapping to learned boundary inference </a:t>
            </a:r>
            <a:r>
              <a:rPr lang="en-US"/>
              <a:t>and</a:t>
            </a:r>
            <a:r>
              <a:rPr lang="en-US"/>
              <a:t> spatial rectification.</a:t>
            </a:r>
            <a:endParaRPr/>
          </a:p>
        </p:txBody>
      </p:sp>
      <p:sp>
        <p:nvSpPr>
          <p:cNvPr id="112" name="Google Shape;112;g385df597807_0_0"/>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13" name="Google Shape;113;g385df597807_0_0"/>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
        <p:nvSpPr>
          <p:cNvPr id="114" name="Google Shape;114;g385df597807_0_0"/>
          <p:cNvSpPr txBox="1"/>
          <p:nvPr/>
        </p:nvSpPr>
        <p:spPr>
          <a:xfrm>
            <a:off x="714525" y="1491525"/>
            <a:ext cx="10088100" cy="5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u="sng">
                <a:solidFill>
                  <a:schemeClr val="hlink"/>
                </a:solidFill>
                <a:latin typeface="Helvetica Neue Light"/>
                <a:ea typeface="Helvetica Neue Light"/>
                <a:cs typeface="Helvetica Neue Light"/>
                <a:sym typeface="Helvetica Neue Light"/>
                <a:hlinkClick r:id="rId3"/>
              </a:rPr>
              <a:t>https://www.sciencedirect.com/science/article/pii/0734189X85900167</a:t>
            </a:r>
            <a:endParaRPr sz="18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85df597807_0_7"/>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Data Set</a:t>
            </a:r>
            <a:endParaRPr/>
          </a:p>
        </p:txBody>
      </p:sp>
      <p:sp>
        <p:nvSpPr>
          <p:cNvPr id="121" name="Google Shape;121;g385df597807_0_7"/>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pic>
        <p:nvPicPr>
          <p:cNvPr id="122" name="Google Shape;122;g385df597807_0_7" title="IMG20251010184033.jpg"/>
          <p:cNvPicPr preferRelativeResize="0"/>
          <p:nvPr/>
        </p:nvPicPr>
        <p:blipFill>
          <a:blip r:embed="rId3">
            <a:alphaModFix/>
          </a:blip>
          <a:stretch>
            <a:fillRect/>
          </a:stretch>
        </p:blipFill>
        <p:spPr>
          <a:xfrm rot="5400000">
            <a:off x="8229948" y="2380426"/>
            <a:ext cx="3712927" cy="2534726"/>
          </a:xfrm>
          <a:prstGeom prst="rect">
            <a:avLst/>
          </a:prstGeom>
          <a:noFill/>
          <a:ln>
            <a:noFill/>
          </a:ln>
        </p:spPr>
      </p:pic>
      <p:pic>
        <p:nvPicPr>
          <p:cNvPr id="123" name="Google Shape;123;g385df597807_0_7" title="IMG20251010184043.jpg"/>
          <p:cNvPicPr preferRelativeResize="0"/>
          <p:nvPr/>
        </p:nvPicPr>
        <p:blipFill rotWithShape="1">
          <a:blip r:embed="rId4">
            <a:alphaModFix/>
          </a:blip>
          <a:srcRect b="-5540" l="0" r="0" t="0"/>
          <a:stretch/>
        </p:blipFill>
        <p:spPr>
          <a:xfrm>
            <a:off x="3320450" y="1768475"/>
            <a:ext cx="2775548" cy="3770849"/>
          </a:xfrm>
          <a:prstGeom prst="rect">
            <a:avLst/>
          </a:prstGeom>
          <a:noFill/>
          <a:ln>
            <a:noFill/>
          </a:ln>
        </p:spPr>
      </p:pic>
      <p:pic>
        <p:nvPicPr>
          <p:cNvPr id="124" name="Google Shape;124;g385df597807_0_7" title="IMG20251010184055.jpg"/>
          <p:cNvPicPr preferRelativeResize="0"/>
          <p:nvPr/>
        </p:nvPicPr>
        <p:blipFill>
          <a:blip r:embed="rId5">
            <a:alphaModFix/>
          </a:blip>
          <a:stretch>
            <a:fillRect/>
          </a:stretch>
        </p:blipFill>
        <p:spPr>
          <a:xfrm rot="-5400000">
            <a:off x="5519564" y="2204774"/>
            <a:ext cx="3770849" cy="2828125"/>
          </a:xfrm>
          <a:prstGeom prst="rect">
            <a:avLst/>
          </a:prstGeom>
          <a:noFill/>
          <a:ln>
            <a:noFill/>
          </a:ln>
        </p:spPr>
      </p:pic>
      <p:pic>
        <p:nvPicPr>
          <p:cNvPr id="125" name="Google Shape;125;g385df597807_0_7" title="IMG-20251011-WA0016.jpg"/>
          <p:cNvPicPr preferRelativeResize="0"/>
          <p:nvPr/>
        </p:nvPicPr>
        <p:blipFill rotWithShape="1">
          <a:blip r:embed="rId6">
            <a:alphaModFix/>
          </a:blip>
          <a:srcRect b="14013" l="0" r="0" t="9370"/>
          <a:stretch/>
        </p:blipFill>
        <p:spPr>
          <a:xfrm>
            <a:off x="354050" y="1773250"/>
            <a:ext cx="3008875" cy="3770849"/>
          </a:xfrm>
          <a:prstGeom prst="rect">
            <a:avLst/>
          </a:prstGeom>
          <a:noFill/>
          <a:ln>
            <a:noFill/>
          </a:ln>
        </p:spPr>
      </p:pic>
      <p:sp>
        <p:nvSpPr>
          <p:cNvPr id="126" name="Google Shape;126;g385df597807_0_7"/>
          <p:cNvSpPr txBox="1"/>
          <p:nvPr/>
        </p:nvSpPr>
        <p:spPr>
          <a:xfrm>
            <a:off x="1734900" y="5724950"/>
            <a:ext cx="8722200" cy="7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Helvetica Neue Light"/>
                <a:ea typeface="Helvetica Neue Light"/>
                <a:cs typeface="Helvetica Neue Light"/>
                <a:sym typeface="Helvetica Neue Light"/>
              </a:rPr>
              <a:t>Images captured under different lighting conditions and angles.</a:t>
            </a:r>
            <a:endParaRPr sz="24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85df597807_4_2"/>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Methodology</a:t>
            </a:r>
            <a:endParaRPr/>
          </a:p>
        </p:txBody>
      </p:sp>
      <p:sp>
        <p:nvSpPr>
          <p:cNvPr id="132" name="Google Shape;132;g385df597807_4_2"/>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lnSpcReduction="10000"/>
          </a:bodyPr>
          <a:lstStyle/>
          <a:p>
            <a:pPr indent="-387350" lvl="0" marL="457200" rtl="0" algn="l">
              <a:lnSpc>
                <a:spcPct val="200000"/>
              </a:lnSpc>
              <a:spcBef>
                <a:spcPts val="0"/>
              </a:spcBef>
              <a:spcAft>
                <a:spcPts val="0"/>
              </a:spcAft>
              <a:buSzPts val="2500"/>
              <a:buAutoNum type="arabicPeriod"/>
            </a:pPr>
            <a:r>
              <a:rPr lang="en-US" sz="2500"/>
              <a:t>Image Acquisition</a:t>
            </a:r>
            <a:endParaRPr sz="2500"/>
          </a:p>
          <a:p>
            <a:pPr indent="-387350" lvl="0" marL="457200" rtl="0" algn="l">
              <a:lnSpc>
                <a:spcPct val="200000"/>
              </a:lnSpc>
              <a:spcBef>
                <a:spcPts val="0"/>
              </a:spcBef>
              <a:spcAft>
                <a:spcPts val="0"/>
              </a:spcAft>
              <a:buSzPts val="2500"/>
              <a:buAutoNum type="arabicPeriod"/>
            </a:pPr>
            <a:r>
              <a:rPr lang="en-US" sz="2500"/>
              <a:t>Preprocessing</a:t>
            </a:r>
            <a:endParaRPr sz="2500"/>
          </a:p>
          <a:p>
            <a:pPr indent="-387350" lvl="0" marL="457200" rtl="0" algn="l">
              <a:lnSpc>
                <a:spcPct val="200000"/>
              </a:lnSpc>
              <a:spcBef>
                <a:spcPts val="0"/>
              </a:spcBef>
              <a:spcAft>
                <a:spcPts val="0"/>
              </a:spcAft>
              <a:buSzPts val="2500"/>
              <a:buAutoNum type="arabicPeriod"/>
            </a:pPr>
            <a:r>
              <a:rPr lang="en-US" sz="2500"/>
              <a:t>Contour Detection</a:t>
            </a:r>
            <a:endParaRPr sz="2500"/>
          </a:p>
          <a:p>
            <a:pPr indent="-387350" lvl="0" marL="457200" rtl="0" algn="l">
              <a:lnSpc>
                <a:spcPct val="200000"/>
              </a:lnSpc>
              <a:spcBef>
                <a:spcPts val="0"/>
              </a:spcBef>
              <a:spcAft>
                <a:spcPts val="0"/>
              </a:spcAft>
              <a:buSzPts val="2500"/>
              <a:buAutoNum type="arabicPeriod"/>
            </a:pPr>
            <a:r>
              <a:rPr lang="en-US" sz="2500"/>
              <a:t>Perspective Transformation</a:t>
            </a:r>
            <a:endParaRPr sz="2500"/>
          </a:p>
          <a:p>
            <a:pPr indent="-387350" lvl="0" marL="457200" rtl="0" algn="l">
              <a:lnSpc>
                <a:spcPct val="200000"/>
              </a:lnSpc>
              <a:spcBef>
                <a:spcPts val="0"/>
              </a:spcBef>
              <a:spcAft>
                <a:spcPts val="0"/>
              </a:spcAft>
              <a:buSzPts val="2500"/>
              <a:buAutoNum type="arabicPeriod"/>
            </a:pPr>
            <a:r>
              <a:rPr lang="en-US" sz="2500"/>
              <a:t>Enhancement and Integration</a:t>
            </a:r>
            <a:endParaRPr sz="2500"/>
          </a:p>
          <a:p>
            <a:pPr indent="-76200" lvl="0" marL="228600" rtl="0" algn="l">
              <a:lnSpc>
                <a:spcPct val="90000"/>
              </a:lnSpc>
              <a:spcBef>
                <a:spcPts val="1000"/>
              </a:spcBef>
              <a:spcAft>
                <a:spcPts val="0"/>
              </a:spcAft>
              <a:buClr>
                <a:schemeClr val="dk1"/>
              </a:buClr>
              <a:buSzPts val="2400"/>
              <a:buFont typeface="Helvetica Neue Light"/>
              <a:buNone/>
            </a:pPr>
            <a:r>
              <a:t/>
            </a:r>
            <a:endParaRPr/>
          </a:p>
        </p:txBody>
      </p:sp>
      <p:sp>
        <p:nvSpPr>
          <p:cNvPr id="133" name="Google Shape;133;g385df597807_4_2"/>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34" name="Google Shape;134;g385df597807_4_2"/>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85df597807_4_9"/>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Results</a:t>
            </a:r>
            <a:endParaRPr/>
          </a:p>
        </p:txBody>
      </p:sp>
      <p:sp>
        <p:nvSpPr>
          <p:cNvPr id="141" name="Google Shape;141;g385df597807_4_9"/>
          <p:cNvSpPr txBox="1"/>
          <p:nvPr>
            <p:ph idx="1" type="body"/>
          </p:nvPr>
        </p:nvSpPr>
        <p:spPr>
          <a:xfrm>
            <a:off x="582427" y="1768950"/>
            <a:ext cx="10515600" cy="4351200"/>
          </a:xfrm>
          <a:prstGeom prst="rect">
            <a:avLst/>
          </a:prstGeom>
        </p:spPr>
        <p:txBody>
          <a:bodyPr anchorCtr="0" anchor="t" bIns="45700" lIns="91425" spcFirstLastPara="1" rIns="91425" wrap="square" tIns="45700">
            <a:noAutofit/>
          </a:bodyPr>
          <a:lstStyle/>
          <a:p>
            <a:pPr indent="0" lvl="0" marL="0" rtl="0" algn="l">
              <a:lnSpc>
                <a:spcPct val="180000"/>
              </a:lnSpc>
              <a:spcBef>
                <a:spcPts val="1000"/>
              </a:spcBef>
              <a:spcAft>
                <a:spcPts val="0"/>
              </a:spcAft>
              <a:buSzPts val="1018"/>
              <a:buNone/>
            </a:pPr>
            <a:r>
              <a:rPr lang="en-US" sz="2520"/>
              <a:t>Expected Outcome:</a:t>
            </a:r>
            <a:endParaRPr sz="2520"/>
          </a:p>
          <a:p>
            <a:pPr indent="-388620" lvl="0" marL="457200" rtl="0" algn="l">
              <a:lnSpc>
                <a:spcPct val="180000"/>
              </a:lnSpc>
              <a:spcBef>
                <a:spcPts val="1000"/>
              </a:spcBef>
              <a:spcAft>
                <a:spcPts val="0"/>
              </a:spcAft>
              <a:buSzPts val="2520"/>
              <a:buChar char="•"/>
            </a:pPr>
            <a:r>
              <a:rPr lang="en-US" sz="2520"/>
              <a:t>Improved Contrast</a:t>
            </a:r>
            <a:endParaRPr sz="2520"/>
          </a:p>
          <a:p>
            <a:pPr indent="-388620" lvl="0" marL="457200" rtl="0" algn="l">
              <a:lnSpc>
                <a:spcPct val="180000"/>
              </a:lnSpc>
              <a:spcBef>
                <a:spcPts val="0"/>
              </a:spcBef>
              <a:spcAft>
                <a:spcPts val="0"/>
              </a:spcAft>
              <a:buSzPts val="2520"/>
              <a:buChar char="•"/>
            </a:pPr>
            <a:r>
              <a:rPr lang="en-US" sz="2520"/>
              <a:t>Clean Edges</a:t>
            </a:r>
            <a:endParaRPr sz="2520"/>
          </a:p>
          <a:p>
            <a:pPr indent="-388620" lvl="0" marL="457200" rtl="0" algn="l">
              <a:lnSpc>
                <a:spcPct val="180000"/>
              </a:lnSpc>
              <a:spcBef>
                <a:spcPts val="0"/>
              </a:spcBef>
              <a:spcAft>
                <a:spcPts val="0"/>
              </a:spcAft>
              <a:buSzPts val="2520"/>
              <a:buChar char="•"/>
            </a:pPr>
            <a:r>
              <a:rPr lang="en-US" sz="2520"/>
              <a:t>Perspective Corrected Images</a:t>
            </a:r>
            <a:endParaRPr sz="2520"/>
          </a:p>
          <a:p>
            <a:pPr indent="-388620" lvl="0" marL="457200" rtl="0" algn="l">
              <a:lnSpc>
                <a:spcPct val="180000"/>
              </a:lnSpc>
              <a:spcBef>
                <a:spcPts val="0"/>
              </a:spcBef>
              <a:spcAft>
                <a:spcPts val="0"/>
              </a:spcAft>
              <a:buSzPts val="2520"/>
              <a:buChar char="•"/>
            </a:pPr>
            <a:r>
              <a:rPr lang="en-US" sz="2520"/>
              <a:t>Reduced Background Noise</a:t>
            </a:r>
            <a:endParaRPr sz="2520"/>
          </a:p>
          <a:p>
            <a:pPr indent="-388620" lvl="0" marL="457200" rtl="0" algn="l">
              <a:lnSpc>
                <a:spcPct val="180000"/>
              </a:lnSpc>
              <a:spcBef>
                <a:spcPts val="0"/>
              </a:spcBef>
              <a:spcAft>
                <a:spcPts val="0"/>
              </a:spcAft>
              <a:buSzPts val="2520"/>
              <a:buChar char="•"/>
            </a:pPr>
            <a:r>
              <a:rPr lang="en-US" sz="2520"/>
              <a:t>Output </a:t>
            </a:r>
            <a:r>
              <a:rPr lang="en-US" sz="2520"/>
              <a:t>resembles</a:t>
            </a:r>
            <a:r>
              <a:rPr lang="en-US" sz="2520"/>
              <a:t> Scanned Docs</a:t>
            </a:r>
            <a:endParaRPr sz="2520"/>
          </a:p>
          <a:p>
            <a:pPr indent="0" lvl="0" marL="0" rtl="0" algn="l">
              <a:lnSpc>
                <a:spcPct val="70000"/>
              </a:lnSpc>
              <a:spcBef>
                <a:spcPts val="1000"/>
              </a:spcBef>
              <a:spcAft>
                <a:spcPts val="0"/>
              </a:spcAft>
              <a:buSzPts val="1018"/>
              <a:buNone/>
            </a:pPr>
            <a:r>
              <a:t/>
            </a:r>
            <a:endParaRPr sz="2220"/>
          </a:p>
        </p:txBody>
      </p:sp>
      <p:sp>
        <p:nvSpPr>
          <p:cNvPr id="142" name="Google Shape;142;g385df597807_4_9"/>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85df597807_4_16"/>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Expectations</a:t>
            </a:r>
            <a:r>
              <a:rPr lang="en-US"/>
              <a:t> and Results</a:t>
            </a:r>
            <a:endParaRPr/>
          </a:p>
        </p:txBody>
      </p:sp>
      <p:sp>
        <p:nvSpPr>
          <p:cNvPr id="149" name="Google Shape;149;g385df597807_4_16"/>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pic>
        <p:nvPicPr>
          <p:cNvPr id="150" name="Google Shape;150;g385df597807_4_16" title="Screenshot 2025-10-10 194021.png"/>
          <p:cNvPicPr preferRelativeResize="0"/>
          <p:nvPr/>
        </p:nvPicPr>
        <p:blipFill>
          <a:blip r:embed="rId3">
            <a:alphaModFix/>
          </a:blip>
          <a:stretch>
            <a:fillRect/>
          </a:stretch>
        </p:blipFill>
        <p:spPr>
          <a:xfrm>
            <a:off x="594300" y="1842425"/>
            <a:ext cx="7766526" cy="4108732"/>
          </a:xfrm>
          <a:prstGeom prst="rect">
            <a:avLst/>
          </a:prstGeom>
          <a:noFill/>
          <a:ln>
            <a:noFill/>
          </a:ln>
        </p:spPr>
      </p:pic>
      <p:pic>
        <p:nvPicPr>
          <p:cNvPr id="151" name="Google Shape;151;g385df597807_4_16" title="perspective correction expectation.mp4">
            <a:hlinkClick r:id="rId4"/>
          </p:cNvPr>
          <p:cNvPicPr preferRelativeResize="0"/>
          <p:nvPr/>
        </p:nvPicPr>
        <p:blipFill>
          <a:blip r:embed="rId5">
            <a:alphaModFix/>
          </a:blip>
          <a:stretch>
            <a:fillRect/>
          </a:stretch>
        </p:blipFill>
        <p:spPr>
          <a:xfrm>
            <a:off x="8360825" y="1606375"/>
            <a:ext cx="3221575" cy="4806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85df597807_4_26"/>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Conclusion</a:t>
            </a:r>
            <a:endParaRPr/>
          </a:p>
        </p:txBody>
      </p:sp>
      <p:sp>
        <p:nvSpPr>
          <p:cNvPr id="158" name="Google Shape;158;g385df597807_4_26"/>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rPr lang="en-US" sz="2600"/>
              <a:t>Our methodology would effectively convert angled photos into scanned photos. It has to be consistent under different circumstances.</a:t>
            </a:r>
            <a:endParaRPr sz="2600"/>
          </a:p>
        </p:txBody>
      </p:sp>
      <p:sp>
        <p:nvSpPr>
          <p:cNvPr id="159" name="Google Shape;159;g385df597807_4_26"/>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5df597807_4_33"/>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Next Set Of Work</a:t>
            </a:r>
            <a:endParaRPr/>
          </a:p>
        </p:txBody>
      </p:sp>
      <p:sp>
        <p:nvSpPr>
          <p:cNvPr id="166" name="Google Shape;166;g385df597807_4_33"/>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381000" lvl="0" marL="457200" rtl="0" algn="l">
              <a:lnSpc>
                <a:spcPct val="200000"/>
              </a:lnSpc>
              <a:spcBef>
                <a:spcPts val="1000"/>
              </a:spcBef>
              <a:spcAft>
                <a:spcPts val="0"/>
              </a:spcAft>
              <a:buSzPts val="2400"/>
              <a:buChar char="•"/>
            </a:pPr>
            <a:r>
              <a:rPr lang="en-US"/>
              <a:t>Contour Detection</a:t>
            </a:r>
            <a:endParaRPr/>
          </a:p>
          <a:p>
            <a:pPr indent="-381000" lvl="0" marL="457200" rtl="0" algn="l">
              <a:lnSpc>
                <a:spcPct val="200000"/>
              </a:lnSpc>
              <a:spcBef>
                <a:spcPts val="0"/>
              </a:spcBef>
              <a:spcAft>
                <a:spcPts val="0"/>
              </a:spcAft>
              <a:buSzPts val="2400"/>
              <a:buChar char="•"/>
            </a:pPr>
            <a:r>
              <a:rPr lang="en-US"/>
              <a:t>Perspective Correction</a:t>
            </a:r>
            <a:endParaRPr/>
          </a:p>
          <a:p>
            <a:pPr indent="-381000" lvl="0" marL="457200" rtl="0" algn="l">
              <a:lnSpc>
                <a:spcPct val="200000"/>
              </a:lnSpc>
              <a:spcBef>
                <a:spcPts val="0"/>
              </a:spcBef>
              <a:spcAft>
                <a:spcPts val="0"/>
              </a:spcAft>
              <a:buSzPts val="2400"/>
              <a:buChar char="•"/>
            </a:pPr>
            <a:r>
              <a:rPr lang="en-US"/>
              <a:t>Post Processing</a:t>
            </a:r>
            <a:endParaRPr/>
          </a:p>
        </p:txBody>
      </p:sp>
      <p:sp>
        <p:nvSpPr>
          <p:cNvPr id="167" name="Google Shape;167;g385df597807_4_33"/>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85df597807_4_40"/>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References</a:t>
            </a:r>
            <a:endParaRPr/>
          </a:p>
        </p:txBody>
      </p:sp>
      <p:sp>
        <p:nvSpPr>
          <p:cNvPr id="174" name="Google Shape;174;g385df597807_4_40"/>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Char char="•"/>
            </a:pPr>
            <a:r>
              <a:rPr lang="en-US"/>
              <a:t>Canny (1986) – A Computational Approach to Edge Detection</a:t>
            </a:r>
            <a:endParaRPr/>
          </a:p>
          <a:p>
            <a:pPr indent="0" lvl="0" marL="457200" rtl="0" algn="l">
              <a:spcBef>
                <a:spcPts val="1000"/>
              </a:spcBef>
              <a:spcAft>
                <a:spcPts val="0"/>
              </a:spcAft>
              <a:buNone/>
            </a:pPr>
            <a:r>
              <a:rPr lang="en-US"/>
              <a:t>Introduced the Canny edge detector — still the most used edge detection technique.</a:t>
            </a:r>
            <a:endParaRPr/>
          </a:p>
          <a:p>
            <a:pPr indent="-355600" lvl="1" marL="914400" rtl="0" algn="l">
              <a:spcBef>
                <a:spcPts val="500"/>
              </a:spcBef>
              <a:spcAft>
                <a:spcPts val="0"/>
              </a:spcAft>
              <a:buSzPts val="2000"/>
              <a:buChar char="•"/>
            </a:pPr>
            <a:r>
              <a:rPr lang="en-US" u="sng">
                <a:solidFill>
                  <a:schemeClr val="hlink"/>
                </a:solidFill>
                <a:hlinkClick r:id="rId3"/>
              </a:rPr>
              <a:t>https://www.researchgate.net/publication/224377985_A_Computational_Approach_To_Edge_Detection</a:t>
            </a:r>
            <a:r>
              <a:rPr lang="en-US"/>
              <a:t> </a:t>
            </a:r>
            <a:endParaRPr/>
          </a:p>
          <a:p>
            <a:pPr indent="-381000" lvl="0" marL="457200" rtl="0" algn="l">
              <a:spcBef>
                <a:spcPts val="0"/>
              </a:spcBef>
              <a:spcAft>
                <a:spcPts val="0"/>
              </a:spcAft>
              <a:buSzPts val="2400"/>
              <a:buChar char="•"/>
            </a:pPr>
            <a:r>
              <a:rPr lang="en-US"/>
              <a:t>Suzuki &amp; Abe (1985) – Topological Structural Analysis of Digitized Binary Images by Border Following</a:t>
            </a:r>
            <a:endParaRPr/>
          </a:p>
          <a:p>
            <a:pPr indent="457200" lvl="0" marL="0" rtl="0" algn="l">
              <a:spcBef>
                <a:spcPts val="1000"/>
              </a:spcBef>
              <a:spcAft>
                <a:spcPts val="0"/>
              </a:spcAft>
              <a:buNone/>
            </a:pPr>
            <a:r>
              <a:rPr lang="en-US"/>
              <a:t>Basis for cv2.findContours() algorithm used in OpenCV.</a:t>
            </a:r>
            <a:endParaRPr/>
          </a:p>
          <a:p>
            <a:pPr indent="-355600" lvl="1" marL="914400" rtl="0" algn="l">
              <a:spcBef>
                <a:spcPts val="1000"/>
              </a:spcBef>
              <a:spcAft>
                <a:spcPts val="0"/>
              </a:spcAft>
              <a:buSzPts val="2000"/>
              <a:buChar char="•"/>
            </a:pPr>
            <a:r>
              <a:rPr lang="en-US" sz="2400" u="sng">
                <a:hlinkClick r:id="rId4"/>
              </a:rPr>
              <a:t>https://www.sciencedirect.com/science/article/pii/0734189X85900167</a:t>
            </a:r>
            <a:endParaRPr/>
          </a:p>
          <a:p>
            <a:pPr indent="0" lvl="0" marL="0" rtl="0" algn="l">
              <a:spcBef>
                <a:spcPts val="1000"/>
              </a:spcBef>
              <a:spcAft>
                <a:spcPts val="0"/>
              </a:spcAft>
              <a:buNone/>
            </a:pPr>
            <a:r>
              <a:t/>
            </a:r>
            <a:endParaRPr sz="2000"/>
          </a:p>
          <a:p>
            <a:pPr indent="0" lvl="0" marL="0" rtl="0" algn="l">
              <a:spcBef>
                <a:spcPts val="1000"/>
              </a:spcBef>
              <a:spcAft>
                <a:spcPts val="0"/>
              </a:spcAft>
              <a:buNone/>
            </a:pPr>
            <a:r>
              <a:rPr lang="en-US" sz="2000"/>
              <a:t>	</a:t>
            </a:r>
            <a:endParaRPr sz="2000"/>
          </a:p>
        </p:txBody>
      </p:sp>
      <p:sp>
        <p:nvSpPr>
          <p:cNvPr id="175" name="Google Shape;175;g385df597807_4_40"/>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